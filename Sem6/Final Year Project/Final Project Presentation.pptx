
<file path=[Content_Types].xml><?xml version="1.0" encoding="utf-8"?>
<Types xmlns="http://schemas.openxmlformats.org/package/2006/content-types">
  <Default ContentType="application/x-fontdata" Extension="fntdata"/>
  <Default ContentType="image/jpeg" Extension="jpeg"/>
  <Default ContentType="image/png" Extension="png"/>
  <Default ContentType="application/vnd.openxmlformats-package.relationships+xml" Extension="rels"/>
  <Default ContentType="image/svg+xml" Extension="svg"/>
  <Default ContentType="application/xml" Extension="xml"/>
  <Override ContentType="application/vnd.openxmlformats-officedocument.extended-properties+xml" PartName="/docProps/app.xml"/>
  <Override ContentType="application/vnd.openxmlformats-package.core-properties+xml" PartName="/docProps/core.xml"/>
  <Override ContentType="application/vnd.openxmlformats-officedocument.presentationml.presentation.main+xml" PartName="/ppt/presentation.xml"/>
  <Override ContentType="application/vnd.openxmlformats-officedocument.presentationml.presProps+xml" PartName="/ppt/presProps.xml"/>
  <Override ContentType="application/vnd.openxmlformats-officedocument.presentationml.slideLayout+xml" PartName="/ppt/slideLayouts/slideLayout1.xml"/>
  <Override ContentType="application/vnd.openxmlformats-officedocument.presentationml.slideLayout+xml" PartName="/ppt/slideLayouts/slideLayout2.xml"/>
  <Override ContentType="application/vnd.openxmlformats-officedocument.presentationml.slideLayout+xml" PartName="/ppt/slideLayouts/slideLayout3.xml"/>
  <Override ContentType="application/vnd.openxmlformats-officedocument.presentationml.slideLayout+xml" PartName="/ppt/slideLayouts/slideLayout4.xml"/>
  <Override ContentType="application/vnd.openxmlformats-officedocument.presentationml.slideLayout+xml" PartName="/ppt/slideLayouts/slideLayout5.xml"/>
  <Override ContentType="application/vnd.openxmlformats-officedocument.presentationml.slideLayout+xml" PartName="/ppt/slideLayouts/slideLayout6.xml"/>
  <Override ContentType="application/vnd.openxmlformats-officedocument.presentationml.slideLayout+xml" PartName="/ppt/slideLayouts/slideLayout7.xml"/>
  <Override ContentType="application/vnd.openxmlformats-officedocument.presentationml.slideLayout+xml" PartName="/ppt/slideLayouts/slideLayout8.xml"/>
  <Override ContentType="application/vnd.openxmlformats-officedocument.presentationml.slideLayout+xml" PartName="/ppt/slideLayouts/slideLayout9.xml"/>
  <Override ContentType="application/vnd.openxmlformats-officedocument.presentationml.slideLayout+xml" PartName="/ppt/slideLayouts/slideLayout10.xml"/>
  <Override ContentType="application/vnd.openxmlformats-officedocument.presentationml.slideLayout+xml" PartName="/ppt/slideLayouts/slideLayout11.xml"/>
  <Override ContentType="application/vnd.openxmlformats-officedocument.presentationml.slideMaster+xml" PartName="/ppt/slideMasters/slideMaster1.xml"/>
  <Override ContentType="application/vnd.openxmlformats-officedocument.presentationml.slide+xml" PartName="/ppt/slides/slide1.xml"/>
  <Override ContentType="application/vnd.openxmlformats-officedocument.presentationml.slide+xml" PartName="/ppt/slides/slide2.xml"/>
  <Override ContentType="application/vnd.openxmlformats-officedocument.presentationml.slide+xml" PartName="/ppt/slides/slide3.xml"/>
  <Override ContentType="application/vnd.openxmlformats-officedocument.presentationml.slide+xml" PartName="/ppt/slides/slide4.xml"/>
  <Override ContentType="application/vnd.openxmlformats-officedocument.presentationml.slide+xml" PartName="/ppt/slides/slide5.xml"/>
  <Override ContentType="application/vnd.openxmlformats-officedocument.presentationml.slide+xml" PartName="/ppt/slides/slide6.xml"/>
  <Override ContentType="application/vnd.openxmlformats-officedocument.presentationml.slide+xml" PartName="/ppt/slides/slide7.xml"/>
  <Override ContentType="application/vnd.openxmlformats-officedocument.presentationml.slide+xml" PartName="/ppt/slides/slide8.xml"/>
  <Override ContentType="application/vnd.openxmlformats-officedocument.presentationml.slide+xml" PartName="/ppt/slides/slide9.xml"/>
  <Override ContentType="application/vnd.openxmlformats-officedocument.presentationml.slide+xml" PartName="/ppt/slides/slide10.xml"/>
  <Override ContentType="application/vnd.openxmlformats-officedocument.presentationml.slide+xml" PartName="/ppt/slides/slide11.xml"/>
  <Override ContentType="application/vnd.openxmlformats-officedocument.presentationml.slide+xml" PartName="/ppt/slides/slide12.xml"/>
  <Override ContentType="application/vnd.openxmlformats-officedocument.presentationml.slide+xml" PartName="/ppt/slides/slide13.xml"/>
  <Override ContentType="application/vnd.openxmlformats-officedocument.presentationml.slide+xml" PartName="/ppt/slides/slide14.xml"/>
  <Override ContentType="application/vnd.openxmlformats-officedocument.presentationml.tableStyles+xml" PartName="/ppt/tableStyles.xml"/>
  <Override ContentType="application/vnd.openxmlformats-officedocument.theme+xml" PartName="/ppt/theme/theme1.xml"/>
  <Override ContentType="application/vnd.openxmlformats-officedocument.presentationml.viewProps+xml" PartName="/ppt/viewProps.xml"/>
</Types>
</file>

<file path=_rels/.rels><?xml version="1.0" encoding="UTF-8" standalone="yes"?><Relationships xmlns="http://schemas.openxmlformats.org/package/2006/relationships"><Relationship Id="rId1" Target="ppt/presentation.xml" Type="http://schemas.openxmlformats.org/officeDocument/2006/relationships/officeDocument"/><Relationship Id="rId2" Target="docProps/thumbnail.jpeg" Type="http://schemas.openxmlformats.org/package/2006/relationships/metadata/thumbnail"/><Relationship Id="rId3" Target="docProps/core.xml" Type="http://schemas.openxmlformats.org/package/2006/relationships/metadata/core-properties"/><Relationship Id="rId4" Target="docProps/app.xml" Type="http://schemas.openxmlformats.org/officeDocument/2006/relationships/extended-properties"/></Relationships>
</file>

<file path=ppt/presentation.xml><?xml version="1.0" encoding="utf-8"?>
<p:presentation xmlns:a="http://schemas.openxmlformats.org/drawingml/2006/main" xmlns:r="http://schemas.openxmlformats.org/officeDocument/2006/relationships" xmlns:p="http://schemas.openxmlformats.org/presentationml/2006/main" saveSubsetFonts="1" embedTrueTypeFonts="true">
  <p:sldMasterIdLst>
    <p:sldMasterId id="2147483648" r:id="rId1"/>
  </p:sldMasterIdLst>
  <p:sldIdLst>
    <p:sldId id="256" r:id="rId6"/>
    <p:sldId id="257" r:id="rId7"/>
    <p:sldId id="258" r:id="rId8"/>
    <p:sldId id="259" r:id="rId9"/>
    <p:sldId id="260" r:id="rId10"/>
    <p:sldId id="261" r:id="rId11"/>
    <p:sldId id="262" r:id="rId12"/>
    <p:sldId id="263" r:id="rId13"/>
    <p:sldId id="264" r:id="rId14"/>
    <p:sldId id="265" r:id="rId15"/>
    <p:sldId id="266" r:id="rId16"/>
    <p:sldId id="267" r:id="rId17"/>
    <p:sldId id="268" r:id="rId18"/>
    <p:sldId id="269" r:id="rId19"/>
  </p:sldIdLst>
  <p:sldSz cx="18288000" cy="10287000"/>
  <p:notesSz cx="6858000" cy="9144000"/>
  <p:embeddedFontLst>
    <p:embeddedFont>
      <p:font typeface="Telegraf Bold" charset="1" panose="00000800000000000000"/>
      <p:regular r:id="rId20"/>
    </p:embeddedFont>
    <p:embeddedFont>
      <p:font typeface="Telegraf" charset="1" panose="00000500000000000000"/>
      <p:regular r:id="rId21"/>
    </p:embeddedFont>
  </p:embeddedFontLst>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autoAdjust="0"/>
    <p:restoredTop sz="94622" autoAdjust="0"/>
  </p:normalViewPr>
  <p:slideViewPr>
    <p:cSldViewPr>
      <p:cViewPr varScale="1">
        <p:scale>
          <a:sx n="74" d="100"/>
          <a:sy n="74" d="100"/>
        </p:scale>
        <p:origin x="-1092" y="-90"/>
      </p:cViewPr>
      <p:guideLst>
        <p:guide orient="horz" pos="2160"/>
        <p:guide pos="2880"/>
      </p:guideLst>
    </p:cSldViewPr>
  </p:slideViewPr>
  <p:outlineViewPr>
    <p:cViewPr>
      <p:scale>
        <a:sx n="33" d="100"/>
        <a:sy n="33" d="100"/>
      </p:scale>
      <p:origin x="0" y="0"/>
    </p:cViewPr>
  </p:outlineViewPr>
  <p:notesTextViewPr>
    <p:cViewPr>
      <p:scale>
        <a:sx n="100" d="100"/>
        <a:sy n="100" d="100"/>
      </p:scale>
      <p:origin x="0" y="0"/>
    </p:cViewPr>
  </p:notesTextViewPr>
  <p:gridSpacing cx="76200" cy="76200"/>
</p:viewPr>
</file>

<file path=ppt/_rels/presentation.xml.rels><?xml version="1.0" encoding="UTF-8" standalone="yes"?><Relationships xmlns="http://schemas.openxmlformats.org/package/2006/relationships"><Relationship Id="rId1" Target="slideMasters/slideMaster1.xml" Type="http://schemas.openxmlformats.org/officeDocument/2006/relationships/slideMaster"/><Relationship Id="rId10" Target="slides/slide5.xml" Type="http://schemas.openxmlformats.org/officeDocument/2006/relationships/slide"/><Relationship Id="rId11" Target="slides/slide6.xml" Type="http://schemas.openxmlformats.org/officeDocument/2006/relationships/slide"/><Relationship Id="rId12" Target="slides/slide7.xml" Type="http://schemas.openxmlformats.org/officeDocument/2006/relationships/slide"/><Relationship Id="rId13" Target="slides/slide8.xml" Type="http://schemas.openxmlformats.org/officeDocument/2006/relationships/slide"/><Relationship Id="rId14" Target="slides/slide9.xml" Type="http://schemas.openxmlformats.org/officeDocument/2006/relationships/slide"/><Relationship Id="rId15" Target="slides/slide10.xml" Type="http://schemas.openxmlformats.org/officeDocument/2006/relationships/slide"/><Relationship Id="rId16" Target="slides/slide11.xml" Type="http://schemas.openxmlformats.org/officeDocument/2006/relationships/slide"/><Relationship Id="rId17" Target="slides/slide12.xml" Type="http://schemas.openxmlformats.org/officeDocument/2006/relationships/slide"/><Relationship Id="rId18" Target="slides/slide13.xml" Type="http://schemas.openxmlformats.org/officeDocument/2006/relationships/slide"/><Relationship Id="rId19" Target="slides/slide14.xml" Type="http://schemas.openxmlformats.org/officeDocument/2006/relationships/slide"/><Relationship Id="rId2" Target="presProps.xml" Type="http://schemas.openxmlformats.org/officeDocument/2006/relationships/presProps"/><Relationship Id="rId20" Target="fonts/font20.fntdata" Type="http://schemas.openxmlformats.org/officeDocument/2006/relationships/font"/><Relationship Id="rId21" Target="fonts/font21.fntdata" Type="http://schemas.openxmlformats.org/officeDocument/2006/relationships/font"/><Relationship Id="rId3" Target="viewProps.xml" Type="http://schemas.openxmlformats.org/officeDocument/2006/relationships/viewProps"/><Relationship Id="rId4" Target="theme/theme1.xml" Type="http://schemas.openxmlformats.org/officeDocument/2006/relationships/theme"/><Relationship Id="rId5" Target="tableStyles.xml" Type="http://schemas.openxmlformats.org/officeDocument/2006/relationships/tableStyles"/><Relationship Id="rId6" Target="slides/slide1.xml" Type="http://schemas.openxmlformats.org/officeDocument/2006/relationships/slide"/><Relationship Id="rId7" Target="slides/slide2.xml" Type="http://schemas.openxmlformats.org/officeDocument/2006/relationships/slide"/><Relationship Id="rId8" Target="slides/slide3.xml" Type="http://schemas.openxmlformats.org/officeDocument/2006/relationships/slide"/><Relationship Id="rId9" Target="slides/slide4.xml" Type="http://schemas.openxmlformats.org/officeDocument/2006/relationships/slide"/></Relationships>
</file>

<file path=ppt/slideLayouts/_rels/slideLayout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2.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3.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4.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5.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6.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7.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8.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9.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0.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_rels/slideLayout11.xml.rels><?xml version="1.0" encoding="UTF-8" standalone="yes"?><Relationships xmlns="http://schemas.openxmlformats.org/package/2006/relationships"><Relationship Id="rId1" Target="../slideMasters/slideMaster1.xml" Type="http://schemas.openxmlformats.org/officeDocument/2006/relationships/slideMaster"/></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1D8BD707-D9CF-40AE-B4C6-C98DA3205C09}" type="datetimeFigureOut">
              <a:rPr lang="en-US" smtClean="0"/>
              <a:pPr/>
              <a:t>8/1/2011</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1D8BD707-D9CF-40AE-B4C6-C98DA3205C09}" type="datetimeFigureOut">
              <a:rPr lang="en-US" smtClean="0"/>
              <a:pPr/>
              <a:t>8/1/2011</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1D8BD707-D9CF-40AE-B4C6-C98DA3205C09}" type="datetimeFigureOut">
              <a:rPr lang="en-US" smtClean="0"/>
              <a:pPr/>
              <a:t>8/1/2011</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1D8BD707-D9CF-40AE-B4C6-C98DA3205C09}" type="datetimeFigureOut">
              <a:rPr lang="en-US" smtClean="0"/>
              <a:pPr/>
              <a:t>8/1/2011</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1D8BD707-D9CF-40AE-B4C6-C98DA3205C09}" type="datetimeFigureOut">
              <a:rPr lang="en-US" smtClean="0"/>
              <a:pPr/>
              <a:t>8/1/2011</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B6F15528-21DE-4FAA-801E-634DDDAF4B2B}" type="slidenum">
              <a:rPr lang="en-US" smtClean="0"/>
              <a:pPr/>
              <a:t>‹#›</a:t>
            </a:fld>
            <a:endParaRPr lang="en-US"/>
          </a:p>
        </p:txBody>
      </p:sp>
    </p:spTree>
  </p:cSld>
  <p:clrMapOvr>
    <a:masterClrMapping/>
  </p:clrMapOvr>
</p:sldLayout>
</file>

<file path=ppt/slideMasters/_rels/slideMaster1.xml.rels><?xml version="1.0" encoding="UTF-8" standalone="yes"?><Relationships xmlns="http://schemas.openxmlformats.org/package/2006/relationships"><Relationship Id="rId1" Target="../slideLayouts/slideLayout1.xml" Type="http://schemas.openxmlformats.org/officeDocument/2006/relationships/slideLayout"/><Relationship Id="rId10" Target="../slideLayouts/slideLayout10.xml" Type="http://schemas.openxmlformats.org/officeDocument/2006/relationships/slideLayout"/><Relationship Id="rId11" Target="../slideLayouts/slideLayout11.xml" Type="http://schemas.openxmlformats.org/officeDocument/2006/relationships/slideLayout"/><Relationship Id="rId12" Target="../theme/theme1.xml" Type="http://schemas.openxmlformats.org/officeDocument/2006/relationships/theme"/><Relationship Id="rId2" Target="../slideLayouts/slideLayout2.xml" Type="http://schemas.openxmlformats.org/officeDocument/2006/relationships/slideLayout"/><Relationship Id="rId3" Target="../slideLayouts/slideLayout3.xml" Type="http://schemas.openxmlformats.org/officeDocument/2006/relationships/slideLayout"/><Relationship Id="rId4" Target="../slideLayouts/slideLayout4.xml" Type="http://schemas.openxmlformats.org/officeDocument/2006/relationships/slideLayout"/><Relationship Id="rId5" Target="../slideLayouts/slideLayout5.xml" Type="http://schemas.openxmlformats.org/officeDocument/2006/relationships/slideLayout"/><Relationship Id="rId6" Target="../slideLayouts/slideLayout6.xml" Type="http://schemas.openxmlformats.org/officeDocument/2006/relationships/slideLayout"/><Relationship Id="rId7" Target="../slideLayouts/slideLayout7.xml" Type="http://schemas.openxmlformats.org/officeDocument/2006/relationships/slideLayout"/><Relationship Id="rId8" Target="../slideLayouts/slideLayout8.xml" Type="http://schemas.openxmlformats.org/officeDocument/2006/relationships/slideLayout"/><Relationship Id="rId9" Target="../slideLayouts/slideLayout9.xml" Type="http://schemas.openxmlformats.org/officeDocument/2006/relationships/slideLayout"/></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1D8BD707-D9CF-40AE-B4C6-C98DA3205C09}" type="datetimeFigureOut">
              <a:rPr lang="en-US" smtClean="0"/>
              <a:pPr/>
              <a:t>8/1/2011</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B6F15528-21DE-4FAA-801E-634DDDAF4B2B}" type="slidenum">
              <a:rPr lang="en-US" smtClean="0"/>
              <a:pPr/>
              <a:t>‹#›</a:t>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5.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6.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7.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8.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9.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0.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5.png" Type="http://schemas.openxmlformats.org/officeDocument/2006/relationships/image"/><Relationship Id="rId3" Target="../media/image6.png" Type="http://schemas.openxmlformats.org/officeDocument/2006/relationships/image"/><Relationship Id="rId4" Target="../media/image7.png" Type="http://schemas.openxmlformats.org/officeDocument/2006/relationships/image"/></Relationships>
</file>

<file path=ppt/slides/_rels/slide11.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 Id="rId6" Target="../media/image8.png" Type="http://schemas.openxmlformats.org/officeDocument/2006/relationships/image"/></Relationships>
</file>

<file path=ppt/slides/_rels/slide12.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3.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_rels/slide14.xml.rels><?xml version="1.0" encoding="UTF-8" standalone="yes"?><Relationships xmlns="http://schemas.openxmlformats.org/package/2006/relationships"><Relationship Id="rId1" Target="../slideLayouts/slideLayout7.xml" Type="http://schemas.openxmlformats.org/officeDocument/2006/relationships/slideLayout"/><Relationship Id="rId2" Target="../media/image1.png" Type="http://schemas.openxmlformats.org/officeDocument/2006/relationships/image"/><Relationship Id="rId3" Target="../media/image2.svg" Type="http://schemas.openxmlformats.org/officeDocument/2006/relationships/image"/><Relationship Id="rId4" Target="../media/image3.png" Type="http://schemas.openxmlformats.org/officeDocument/2006/relationships/image"/><Relationship Id="rId5" Target="../media/image4.svg" Type="http://schemas.openxmlformats.org/officeDocument/2006/relationships/image"/></Relationships>
</file>

<file path=ppt/slides/slide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1426757" y="2230013"/>
            <a:ext cx="15434486" cy="1407795"/>
          </a:xfrm>
          <a:prstGeom prst="rect">
            <a:avLst/>
          </a:prstGeom>
        </p:spPr>
        <p:txBody>
          <a:bodyPr anchor="t" rtlCol="false" tIns="0" lIns="0" bIns="0" rIns="0">
            <a:spAutoFit/>
          </a:bodyPr>
          <a:lstStyle/>
          <a:p>
            <a:pPr algn="ctr">
              <a:lnSpc>
                <a:spcPts val="3569"/>
              </a:lnSpc>
            </a:pPr>
            <a:r>
              <a:rPr lang="en-US" b="true" sz="3399">
                <a:solidFill>
                  <a:srgbClr val="FFFFFF"/>
                </a:solidFill>
                <a:latin typeface="Telegraf Bold"/>
                <a:ea typeface="Telegraf Bold"/>
                <a:cs typeface="Telegraf Bold"/>
                <a:sym typeface="Telegraf Bold"/>
              </a:rPr>
              <a:t>ADA</a:t>
            </a:r>
            <a:r>
              <a:rPr lang="en-US" b="true" sz="3399">
                <a:solidFill>
                  <a:srgbClr val="FFFFFF"/>
                </a:solidFill>
                <a:latin typeface="Telegraf Bold"/>
                <a:ea typeface="Telegraf Bold"/>
                <a:cs typeface="Telegraf Bold"/>
                <a:sym typeface="Telegraf Bold"/>
              </a:rPr>
              <a:t>PTIVE DETECTION OF ADVANCED PERSISTENT THREATS (APT) WITH GRAPH NEURAL NETWORKS AND REHEARSAL-BASED CONTINUAL LEARNING ON WAZUH EDR TELEMETRY</a:t>
            </a:r>
          </a:p>
        </p:txBody>
      </p:sp>
      <p:sp>
        <p:nvSpPr>
          <p:cNvPr name="Freeform 3" id="3"/>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5" id="5"/>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964207" y="7017066"/>
            <a:ext cx="7321632" cy="434340"/>
          </a:xfrm>
          <a:prstGeom prst="rect">
            <a:avLst/>
          </a:prstGeom>
        </p:spPr>
        <p:txBody>
          <a:bodyPr anchor="t" rtlCol="false" tIns="0" lIns="0" bIns="0" rIns="0">
            <a:spAutoFit/>
          </a:bodyPr>
          <a:lstStyle/>
          <a:p>
            <a:pPr algn="ctr">
              <a:lnSpc>
                <a:spcPts val="3360"/>
              </a:lnSpc>
            </a:pPr>
            <a:r>
              <a:rPr lang="en-US" sz="2400">
                <a:solidFill>
                  <a:srgbClr val="FFFFFF"/>
                </a:solidFill>
                <a:latin typeface="Telegraf"/>
                <a:ea typeface="Telegraf"/>
                <a:cs typeface="Telegraf"/>
                <a:sym typeface="Telegraf"/>
              </a:rPr>
              <a:t>Coordinator:  Dr. Nimmy K  ||  Guide:  Dr. Swapna MP</a:t>
            </a:r>
          </a:p>
        </p:txBody>
      </p:sp>
      <p:sp>
        <p:nvSpPr>
          <p:cNvPr name="Freeform 7" id="7"/>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8" id="8"/>
          <p:cNvSpPr txBox="true"/>
          <p:nvPr/>
        </p:nvSpPr>
        <p:spPr>
          <a:xfrm rot="0">
            <a:off x="5621369" y="4354765"/>
            <a:ext cx="6220210" cy="1900301"/>
          </a:xfrm>
          <a:prstGeom prst="rect">
            <a:avLst/>
          </a:prstGeom>
        </p:spPr>
        <p:txBody>
          <a:bodyPr anchor="t" rtlCol="false" tIns="0" lIns="0" bIns="0" rIns="0">
            <a:spAutoFit/>
          </a:bodyPr>
          <a:lstStyle/>
          <a:p>
            <a:pPr algn="l">
              <a:lnSpc>
                <a:spcPts val="3772"/>
              </a:lnSpc>
            </a:pPr>
            <a:r>
              <a:rPr lang="en-US" sz="2300">
                <a:solidFill>
                  <a:srgbClr val="FFFFFF"/>
                </a:solidFill>
                <a:latin typeface="Telegraf"/>
                <a:ea typeface="Telegraf"/>
                <a:cs typeface="Telegraf"/>
                <a:sym typeface="Telegraf"/>
              </a:rPr>
              <a:t>AM.SC.U4CSE23214: Chaitanya Krishna </a:t>
            </a:r>
          </a:p>
          <a:p>
            <a:pPr algn="l">
              <a:lnSpc>
                <a:spcPts val="3772"/>
              </a:lnSpc>
            </a:pPr>
            <a:r>
              <a:rPr lang="en-US" sz="2300">
                <a:solidFill>
                  <a:srgbClr val="FFFFFF"/>
                </a:solidFill>
                <a:latin typeface="Telegraf"/>
                <a:ea typeface="Telegraf"/>
                <a:cs typeface="Telegraf"/>
                <a:sym typeface="Telegraf"/>
              </a:rPr>
              <a:t>AM.SC.U4CSE23219: </a:t>
            </a:r>
            <a:r>
              <a:rPr lang="en-US" sz="2300">
                <a:solidFill>
                  <a:srgbClr val="FFFFFF"/>
                </a:solidFill>
                <a:latin typeface="Telegraf"/>
                <a:ea typeface="Telegraf"/>
                <a:cs typeface="Telegraf"/>
                <a:sym typeface="Telegraf"/>
              </a:rPr>
              <a:t>Tejaswini                    </a:t>
            </a:r>
          </a:p>
          <a:p>
            <a:pPr algn="l">
              <a:lnSpc>
                <a:spcPts val="3772"/>
              </a:lnSpc>
            </a:pPr>
            <a:r>
              <a:rPr lang="en-US" sz="2300">
                <a:solidFill>
                  <a:srgbClr val="FFFFFF"/>
                </a:solidFill>
                <a:latin typeface="Telegraf"/>
                <a:ea typeface="Telegraf"/>
                <a:cs typeface="Telegraf"/>
                <a:sym typeface="Telegraf"/>
              </a:rPr>
              <a:t>AM.SC.U4CSE23236: </a:t>
            </a:r>
            <a:r>
              <a:rPr lang="en-US" sz="2300">
                <a:solidFill>
                  <a:srgbClr val="FFFFFF"/>
                </a:solidFill>
                <a:latin typeface="Telegraf"/>
                <a:ea typeface="Telegraf"/>
                <a:cs typeface="Telegraf"/>
                <a:sym typeface="Telegraf"/>
              </a:rPr>
              <a:t>Guna Abhiram          </a:t>
            </a:r>
          </a:p>
          <a:p>
            <a:pPr algn="l">
              <a:lnSpc>
                <a:spcPts val="3772"/>
              </a:lnSpc>
            </a:pPr>
            <a:r>
              <a:rPr lang="en-US" sz="2300">
                <a:solidFill>
                  <a:srgbClr val="FFFFFF"/>
                </a:solidFill>
                <a:latin typeface="Telegraf"/>
                <a:ea typeface="Telegraf"/>
                <a:cs typeface="Telegraf"/>
                <a:sym typeface="Telegraf"/>
              </a:rPr>
              <a:t>AM.SC.U4CSE23272: </a:t>
            </a:r>
            <a:r>
              <a:rPr lang="en-US" sz="2300">
                <a:solidFill>
                  <a:srgbClr val="FFFFFF"/>
                </a:solidFill>
                <a:latin typeface="Telegraf"/>
                <a:ea typeface="Telegraf"/>
                <a:cs typeface="Telegraf"/>
                <a:sym typeface="Telegraf"/>
              </a:rPr>
              <a:t>Chetan Krishna </a:t>
            </a:r>
          </a:p>
        </p:txBody>
      </p:sp>
      <p:sp>
        <p:nvSpPr>
          <p:cNvPr name="TextBox 9" id="9"/>
          <p:cNvSpPr txBox="true"/>
          <p:nvPr/>
        </p:nvSpPr>
        <p:spPr>
          <a:xfrm rot="0">
            <a:off x="4964207" y="8213406"/>
            <a:ext cx="7114699" cy="853440"/>
          </a:xfrm>
          <a:prstGeom prst="rect">
            <a:avLst/>
          </a:prstGeom>
        </p:spPr>
        <p:txBody>
          <a:bodyPr anchor="t" rtlCol="false" tIns="0" lIns="0" bIns="0" rIns="0">
            <a:spAutoFit/>
          </a:bodyPr>
          <a:lstStyle/>
          <a:p>
            <a:pPr algn="ctr">
              <a:lnSpc>
                <a:spcPts val="3359"/>
              </a:lnSpc>
              <a:spcBef>
                <a:spcPct val="0"/>
              </a:spcBef>
            </a:pPr>
            <a:r>
              <a:rPr lang="en-US" sz="2399">
                <a:solidFill>
                  <a:srgbClr val="FFFFFF"/>
                </a:solidFill>
                <a:latin typeface="Telegraf"/>
                <a:ea typeface="Telegraf"/>
                <a:cs typeface="Telegraf"/>
                <a:sym typeface="Telegraf"/>
              </a:rPr>
              <a:t>Department </a:t>
            </a:r>
            <a:r>
              <a:rPr lang="en-US" sz="2399">
                <a:solidFill>
                  <a:srgbClr val="FFFFFF"/>
                </a:solidFill>
                <a:latin typeface="Telegraf"/>
                <a:ea typeface="Telegraf"/>
                <a:cs typeface="Telegraf"/>
                <a:sym typeface="Telegraf"/>
              </a:rPr>
              <a:t>of Computer Science and Engineering</a:t>
            </a:r>
          </a:p>
          <a:p>
            <a:pPr algn="ctr">
              <a:lnSpc>
                <a:spcPts val="3359"/>
              </a:lnSpc>
              <a:spcBef>
                <a:spcPct val="0"/>
              </a:spcBef>
            </a:pPr>
            <a:r>
              <a:rPr lang="en-US" sz="2399">
                <a:solidFill>
                  <a:srgbClr val="FFFFFF"/>
                </a:solidFill>
                <a:latin typeface="Telegraf"/>
                <a:ea typeface="Telegraf"/>
                <a:cs typeface="Telegraf"/>
                <a:sym typeface="Telegraf"/>
              </a:rPr>
              <a:t>Amrita School of Computing, Amritapuri Campus</a:t>
            </a:r>
          </a:p>
        </p:txBody>
      </p:sp>
    </p:spTree>
  </p:cSld>
  <p:clrMapOvr>
    <a:masterClrMapping/>
  </p:clrMapOvr>
</p:sld>
</file>

<file path=ppt/slides/slide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4613434" y="554216"/>
            <a:ext cx="7326390" cy="544195"/>
          </a:xfrm>
          <a:prstGeom prst="rect">
            <a:avLst/>
          </a:prstGeom>
        </p:spPr>
        <p:txBody>
          <a:bodyPr anchor="t" rtlCol="false" tIns="0" lIns="0" bIns="0" rIns="0">
            <a:spAutoFit/>
          </a:bodyPr>
          <a:lstStyle/>
          <a:p>
            <a:pPr algn="l">
              <a:lnSpc>
                <a:spcPts val="3799"/>
              </a:lnSpc>
            </a:pPr>
            <a:r>
              <a:rPr lang="en-US" sz="3799" u="sng" b="true">
                <a:solidFill>
                  <a:srgbClr val="FFFFFF"/>
                </a:solidFill>
                <a:latin typeface="Telegraf Bold"/>
                <a:ea typeface="Telegraf Bold"/>
                <a:cs typeface="Telegraf Bold"/>
                <a:sym typeface="Telegraf Bold"/>
              </a:rPr>
              <a:t>Introduc</a:t>
            </a:r>
            <a:r>
              <a:rPr lang="en-US" b="true" sz="3799" u="sng">
                <a:solidFill>
                  <a:srgbClr val="FFFFFF"/>
                </a:solidFill>
                <a:latin typeface="Telegraf Bold"/>
                <a:ea typeface="Telegraf Bold"/>
                <a:cs typeface="Telegraf Bold"/>
                <a:sym typeface="Telegraf Bold"/>
              </a:rPr>
              <a:t>tion and Background</a:t>
            </a:r>
          </a:p>
        </p:txBody>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321936" y="-2107781"/>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TextBox 7" id="7"/>
          <p:cNvSpPr txBox="true"/>
          <p:nvPr/>
        </p:nvSpPr>
        <p:spPr>
          <a:xfrm rot="0">
            <a:off x="1028700" y="1412736"/>
            <a:ext cx="3584734"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D</a:t>
            </a:r>
            <a:r>
              <a:rPr lang="en-US" b="true" sz="3199">
                <a:solidFill>
                  <a:srgbClr val="FFFFFF"/>
                </a:solidFill>
                <a:latin typeface="Telegraf Bold"/>
                <a:ea typeface="Telegraf Bold"/>
                <a:cs typeface="Telegraf Bold"/>
                <a:sym typeface="Telegraf Bold"/>
              </a:rPr>
              <a:t>omain Overview:</a:t>
            </a:r>
          </a:p>
        </p:txBody>
      </p:sp>
      <p:sp>
        <p:nvSpPr>
          <p:cNvPr name="TextBox 8" id="8"/>
          <p:cNvSpPr txBox="true"/>
          <p:nvPr/>
        </p:nvSpPr>
        <p:spPr>
          <a:xfrm rot="0">
            <a:off x="1161436" y="2195405"/>
            <a:ext cx="15139512" cy="13912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Advanced Persistent Threats (APTs) are stealthy, long-duration cyber attacks.</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Attackers continuously evolve attack patterns to bypass security systems.</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Enterprise Detection and Response (EDR) telemetry generates large-scale network activity logs.</a:t>
            </a:r>
          </a:p>
        </p:txBody>
      </p:sp>
      <p:sp>
        <p:nvSpPr>
          <p:cNvPr name="TextBox 9" id="9"/>
          <p:cNvSpPr txBox="true"/>
          <p:nvPr/>
        </p:nvSpPr>
        <p:spPr>
          <a:xfrm rot="0">
            <a:off x="1047036" y="3904476"/>
            <a:ext cx="5525571"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Importance of the Problem:</a:t>
            </a:r>
          </a:p>
        </p:txBody>
      </p:sp>
      <p:sp>
        <p:nvSpPr>
          <p:cNvPr name="TextBox 10" id="10"/>
          <p:cNvSpPr txBox="true"/>
          <p:nvPr/>
        </p:nvSpPr>
        <p:spPr>
          <a:xfrm rot="0">
            <a:off x="1077158" y="4804271"/>
            <a:ext cx="16132176" cy="18484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Traditional Intrusion Detection System (IDS) systems fail to adapt to evolving attack behaviors.</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Static machine learning models suffer from performance degradation over time.</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Detecting coordinated malicious communication patterns is difficult using flat feature-based methods.</a:t>
            </a:r>
          </a:p>
          <a:p>
            <a:pPr algn="l">
              <a:lnSpc>
                <a:spcPts val="3639"/>
              </a:lnSpc>
            </a:pPr>
          </a:p>
        </p:txBody>
      </p:sp>
      <p:sp>
        <p:nvSpPr>
          <p:cNvPr name="TextBox 11" id="11"/>
          <p:cNvSpPr txBox="true"/>
          <p:nvPr/>
        </p:nvSpPr>
        <p:spPr>
          <a:xfrm rot="0">
            <a:off x="1008817" y="6557506"/>
            <a:ext cx="6430923"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Motivation Behind the Research:</a:t>
            </a:r>
          </a:p>
        </p:txBody>
      </p:sp>
      <p:sp>
        <p:nvSpPr>
          <p:cNvPr name="TextBox 12" id="12"/>
          <p:cNvSpPr txBox="true"/>
          <p:nvPr/>
        </p:nvSpPr>
        <p:spPr>
          <a:xfrm rot="0">
            <a:off x="1161436" y="7343001"/>
            <a:ext cx="13286304" cy="13912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Graph Neural Networks (GNNs) can capture relationships between network entities.</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Continual Learning allows models to adapt to sequential attack evolution.</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Rehearsal replay helps preserve knowledge from previous attack distributions.</a:t>
            </a:r>
          </a:p>
        </p:txBody>
      </p:sp>
    </p:spTree>
  </p:cSld>
  <p:clrMapOvr>
    <a:masterClrMapping/>
  </p:clrMapOvr>
</p:sld>
</file>

<file path=ppt/slides/slide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false" flipV="true" rot="-1102825">
            <a:off x="-2809915" y="-2425246"/>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4" id="4"/>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5" id="5"/>
          <p:cNvSpPr txBox="true"/>
          <p:nvPr/>
        </p:nvSpPr>
        <p:spPr>
          <a:xfrm rot="0">
            <a:off x="1809861" y="1176543"/>
            <a:ext cx="6497598"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Problem Addressed in the Paper:</a:t>
            </a:r>
          </a:p>
        </p:txBody>
      </p:sp>
      <p:sp>
        <p:nvSpPr>
          <p:cNvPr name="TextBox 6" id="6"/>
          <p:cNvSpPr txBox="true"/>
          <p:nvPr/>
        </p:nvSpPr>
        <p:spPr>
          <a:xfrm rot="0">
            <a:off x="2446681" y="1907830"/>
            <a:ext cx="12896612" cy="9340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Detecting evolving APT attacks from sequential Wazuh EDR telemetry data.</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Maintaining detection performance across changing network traffic distributions.</a:t>
            </a:r>
          </a:p>
        </p:txBody>
      </p:sp>
      <p:sp>
        <p:nvSpPr>
          <p:cNvPr name="TextBox 7" id="7"/>
          <p:cNvSpPr txBox="true"/>
          <p:nvPr/>
        </p:nvSpPr>
        <p:spPr>
          <a:xfrm rot="0">
            <a:off x="1809861" y="2987733"/>
            <a:ext cx="3917156"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Existing Challenges</a:t>
            </a:r>
          </a:p>
        </p:txBody>
      </p:sp>
      <p:sp>
        <p:nvSpPr>
          <p:cNvPr name="TextBox 8" id="8"/>
          <p:cNvSpPr txBox="true"/>
          <p:nvPr/>
        </p:nvSpPr>
        <p:spPr>
          <a:xfrm rot="0">
            <a:off x="2446681" y="3782753"/>
            <a:ext cx="10142696" cy="18484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Catastrophic forgetting in sequential learning.</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Dynamic attack behavior and temporal distribution shift.</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Large-scale graph processing complexity.</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Inability of classical models to model communication topology.</a:t>
            </a:r>
          </a:p>
        </p:txBody>
      </p:sp>
      <p:sp>
        <p:nvSpPr>
          <p:cNvPr name="TextBox 9" id="9"/>
          <p:cNvSpPr txBox="true"/>
          <p:nvPr/>
        </p:nvSpPr>
        <p:spPr>
          <a:xfrm rot="0">
            <a:off x="1809861" y="5928803"/>
            <a:ext cx="6680002"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Objectives of the Proposed Work:</a:t>
            </a:r>
          </a:p>
        </p:txBody>
      </p:sp>
      <p:sp>
        <p:nvSpPr>
          <p:cNvPr name="TextBox 10" id="10"/>
          <p:cNvSpPr txBox="true"/>
          <p:nvPr/>
        </p:nvSpPr>
        <p:spPr>
          <a:xfrm rot="0">
            <a:off x="2446681" y="6657148"/>
            <a:ext cx="8047315" cy="1848485"/>
          </a:xfrm>
          <a:prstGeom prst="rect">
            <a:avLst/>
          </a:prstGeom>
        </p:spPr>
        <p:txBody>
          <a:bodyPr anchor="t" rtlCol="false" tIns="0" lIns="0" bIns="0" rIns="0">
            <a:spAutoFit/>
          </a:bodyPr>
          <a:lstStyle/>
          <a:p>
            <a:pPr algn="l" marL="561337" indent="-280669" lvl="1">
              <a:lnSpc>
                <a:spcPts val="3639"/>
              </a:lnSpc>
              <a:buFont typeface="Arial"/>
              <a:buChar char="•"/>
            </a:pPr>
            <a:r>
              <a:rPr lang="en-US" sz="2599">
                <a:solidFill>
                  <a:srgbClr val="FFFFFF"/>
                </a:solidFill>
                <a:latin typeface="Telegraf"/>
                <a:ea typeface="Telegraf"/>
                <a:cs typeface="Telegraf"/>
                <a:sym typeface="Telegraf"/>
              </a:rPr>
              <a:t>Convert network telemetry into graph structures.</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Use GNNs for structural threat detection.</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Apply rehearsal-based continual learning.</a:t>
            </a:r>
          </a:p>
          <a:p>
            <a:pPr algn="l" marL="561337" indent="-280669" lvl="1">
              <a:lnSpc>
                <a:spcPts val="3639"/>
              </a:lnSpc>
              <a:buFont typeface="Arial"/>
              <a:buChar char="•"/>
            </a:pPr>
            <a:r>
              <a:rPr lang="en-US" sz="2599">
                <a:solidFill>
                  <a:srgbClr val="FFFFFF"/>
                </a:solidFill>
                <a:latin typeface="Telegraf"/>
                <a:ea typeface="Telegraf"/>
                <a:cs typeface="Telegraf"/>
                <a:sym typeface="Telegraf"/>
              </a:rPr>
              <a:t>Improve adaptability to evolving cyber threats.</a:t>
            </a:r>
          </a:p>
        </p:txBody>
      </p:sp>
      <p:sp>
        <p:nvSpPr>
          <p:cNvPr name="TextBox 11" id="11"/>
          <p:cNvSpPr txBox="true"/>
          <p:nvPr/>
        </p:nvSpPr>
        <p:spPr>
          <a:xfrm rot="0">
            <a:off x="4898223" y="273830"/>
            <a:ext cx="6719888" cy="694055"/>
          </a:xfrm>
          <a:prstGeom prst="rect">
            <a:avLst/>
          </a:prstGeom>
        </p:spPr>
        <p:txBody>
          <a:bodyPr anchor="t" rtlCol="false" tIns="0" lIns="0" bIns="0" rIns="0">
            <a:spAutoFit/>
          </a:bodyPr>
          <a:lstStyle/>
          <a:p>
            <a:pPr algn="ctr">
              <a:lnSpc>
                <a:spcPts val="5319"/>
              </a:lnSpc>
              <a:spcBef>
                <a:spcPct val="0"/>
              </a:spcBef>
            </a:pPr>
            <a:r>
              <a:rPr lang="en-US" b="true" sz="3799" u="sng">
                <a:solidFill>
                  <a:srgbClr val="FFFFFF"/>
                </a:solidFill>
                <a:latin typeface="Telegraf Bold"/>
                <a:ea typeface="Telegraf Bold"/>
                <a:cs typeface="Telegraf Bold"/>
                <a:sym typeface="Telegraf Bold"/>
              </a:rPr>
              <a:t>Research Problem Definition</a:t>
            </a:r>
          </a:p>
        </p:txBody>
      </p:sp>
      <p:sp>
        <p:nvSpPr>
          <p:cNvPr name="Freeform 12" id="12"/>
          <p:cNvSpPr/>
          <p:nvPr/>
        </p:nvSpPr>
        <p:spPr>
          <a:xfrm flipH="true" flipV="true" rot="0">
            <a:off x="12396453"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slides/slide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1194825"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396453"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111869" y="343004"/>
            <a:ext cx="8698945" cy="694055"/>
          </a:xfrm>
          <a:prstGeom prst="rect">
            <a:avLst/>
          </a:prstGeom>
        </p:spPr>
        <p:txBody>
          <a:bodyPr anchor="t" rtlCol="false" tIns="0" lIns="0" bIns="0" rIns="0">
            <a:spAutoFit/>
          </a:bodyPr>
          <a:lstStyle/>
          <a:p>
            <a:pPr algn="ctr">
              <a:lnSpc>
                <a:spcPts val="5319"/>
              </a:lnSpc>
              <a:spcBef>
                <a:spcPct val="0"/>
              </a:spcBef>
            </a:pPr>
            <a:r>
              <a:rPr lang="en-US" b="true" sz="3799" u="sng">
                <a:solidFill>
                  <a:srgbClr val="FFFFFF"/>
                </a:solidFill>
                <a:latin typeface="Telegraf Bold"/>
                <a:ea typeface="Telegraf Bold"/>
                <a:cs typeface="Telegraf Bold"/>
                <a:sym typeface="Telegraf Bold"/>
              </a:rPr>
              <a:t>Literature Review / Existing Methods</a:t>
            </a:r>
          </a:p>
        </p:txBody>
      </p:sp>
      <p:sp>
        <p:nvSpPr>
          <p:cNvPr name="TextBox 7" id="7"/>
          <p:cNvSpPr txBox="true"/>
          <p:nvPr/>
        </p:nvSpPr>
        <p:spPr>
          <a:xfrm rot="0">
            <a:off x="1354372" y="1853513"/>
            <a:ext cx="4306372"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Previous Approaches:</a:t>
            </a:r>
          </a:p>
        </p:txBody>
      </p:sp>
      <p:sp>
        <p:nvSpPr>
          <p:cNvPr name="TextBox 8" id="8"/>
          <p:cNvSpPr txBox="true"/>
          <p:nvPr/>
        </p:nvSpPr>
        <p:spPr>
          <a:xfrm rot="0">
            <a:off x="1354372" y="2593836"/>
            <a:ext cx="7600355" cy="2027555"/>
          </a:xfrm>
          <a:prstGeom prst="rect">
            <a:avLst/>
          </a:prstGeom>
        </p:spPr>
        <p:txBody>
          <a:bodyPr anchor="t" rtlCol="false" tIns="0" lIns="0" bIns="0" rIns="0">
            <a:spAutoFit/>
          </a:bodyPr>
          <a:lstStyle/>
          <a:p>
            <a:pPr algn="l" marL="561339" indent="-280669" lvl="1">
              <a:lnSpc>
                <a:spcPts val="4029"/>
              </a:lnSpc>
              <a:buFont typeface="Arial"/>
              <a:buChar char="•"/>
            </a:pPr>
            <a:r>
              <a:rPr lang="en-US" sz="2599">
                <a:solidFill>
                  <a:srgbClr val="FFFFFF"/>
                </a:solidFill>
                <a:latin typeface="Telegraf"/>
                <a:ea typeface="Telegraf"/>
                <a:cs typeface="Telegraf"/>
                <a:sym typeface="Telegraf"/>
              </a:rPr>
              <a:t>Signature-based Intrusion Detection Systems</a:t>
            </a:r>
          </a:p>
          <a:p>
            <a:pPr algn="l" marL="561339" indent="-280669" lvl="1">
              <a:lnSpc>
                <a:spcPts val="4029"/>
              </a:lnSpc>
              <a:buFont typeface="Arial"/>
              <a:buChar char="•"/>
            </a:pPr>
            <a:r>
              <a:rPr lang="en-US" sz="2599">
                <a:solidFill>
                  <a:srgbClr val="FFFFFF"/>
                </a:solidFill>
                <a:latin typeface="Telegraf"/>
                <a:ea typeface="Telegraf"/>
                <a:cs typeface="Telegraf"/>
                <a:sym typeface="Telegraf"/>
              </a:rPr>
              <a:t>CNN and RNN-based intrusion detection</a:t>
            </a:r>
          </a:p>
          <a:p>
            <a:pPr algn="l" marL="561339" indent="-280669" lvl="1">
              <a:lnSpc>
                <a:spcPts val="4029"/>
              </a:lnSpc>
              <a:buFont typeface="Arial"/>
              <a:buChar char="•"/>
            </a:pPr>
            <a:r>
              <a:rPr lang="en-US" sz="2599">
                <a:solidFill>
                  <a:srgbClr val="FFFFFF"/>
                </a:solidFill>
                <a:latin typeface="Telegraf"/>
                <a:ea typeface="Telegraf"/>
                <a:cs typeface="Telegraf"/>
                <a:sym typeface="Telegraf"/>
              </a:rPr>
              <a:t>Deep Neural Networks</a:t>
            </a:r>
          </a:p>
          <a:p>
            <a:pPr algn="l" marL="561339" indent="-280669" lvl="1">
              <a:lnSpc>
                <a:spcPts val="4029"/>
              </a:lnSpc>
              <a:buFont typeface="Arial"/>
              <a:buChar char="•"/>
            </a:pPr>
            <a:r>
              <a:rPr lang="en-US" sz="2599">
                <a:solidFill>
                  <a:srgbClr val="FFFFFF"/>
                </a:solidFill>
                <a:latin typeface="Telegraf"/>
                <a:ea typeface="Telegraf"/>
                <a:cs typeface="Telegraf"/>
                <a:sym typeface="Telegraf"/>
              </a:rPr>
              <a:t>Static anomaly detection methods</a:t>
            </a:r>
          </a:p>
        </p:txBody>
      </p:sp>
      <p:sp>
        <p:nvSpPr>
          <p:cNvPr name="TextBox 9" id="9"/>
          <p:cNvSpPr txBox="true"/>
          <p:nvPr/>
        </p:nvSpPr>
        <p:spPr>
          <a:xfrm rot="0">
            <a:off x="1028700" y="5532653"/>
            <a:ext cx="6317099"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Limitations of Existing Systems:</a:t>
            </a:r>
          </a:p>
        </p:txBody>
      </p:sp>
      <p:sp>
        <p:nvSpPr>
          <p:cNvPr name="TextBox 10" id="10"/>
          <p:cNvSpPr txBox="true"/>
          <p:nvPr/>
        </p:nvSpPr>
        <p:spPr>
          <a:xfrm rot="0">
            <a:off x="966192" y="6461023"/>
            <a:ext cx="8177808" cy="2065274"/>
          </a:xfrm>
          <a:prstGeom prst="rect">
            <a:avLst/>
          </a:prstGeom>
        </p:spPr>
        <p:txBody>
          <a:bodyPr anchor="t" rtlCol="false" tIns="0" lIns="0" bIns="0" rIns="0">
            <a:spAutoFit/>
          </a:bodyPr>
          <a:lstStyle/>
          <a:p>
            <a:pPr algn="l" marL="561339" indent="-280669" lvl="1">
              <a:lnSpc>
                <a:spcPts val="4107"/>
              </a:lnSpc>
              <a:buFont typeface="Arial"/>
              <a:buChar char="•"/>
            </a:pPr>
            <a:r>
              <a:rPr lang="en-US" sz="2599">
                <a:solidFill>
                  <a:srgbClr val="FFFFFF"/>
                </a:solidFill>
                <a:latin typeface="Telegraf"/>
                <a:ea typeface="Telegraf"/>
                <a:cs typeface="Telegraf"/>
                <a:sym typeface="Telegraf"/>
              </a:rPr>
              <a:t>Treat each flow independently.</a:t>
            </a:r>
          </a:p>
          <a:p>
            <a:pPr algn="l" marL="561339" indent="-280669" lvl="1">
              <a:lnSpc>
                <a:spcPts val="4107"/>
              </a:lnSpc>
              <a:buFont typeface="Arial"/>
              <a:buChar char="•"/>
            </a:pPr>
            <a:r>
              <a:rPr lang="en-US" sz="2599">
                <a:solidFill>
                  <a:srgbClr val="FFFFFF"/>
                </a:solidFill>
                <a:latin typeface="Telegraf"/>
                <a:ea typeface="Telegraf"/>
                <a:cs typeface="Telegraf"/>
                <a:sym typeface="Telegraf"/>
              </a:rPr>
              <a:t>Ignore communication relationships between IPs.</a:t>
            </a:r>
          </a:p>
          <a:p>
            <a:pPr algn="l" marL="561339" indent="-280669" lvl="1">
              <a:lnSpc>
                <a:spcPts val="4107"/>
              </a:lnSpc>
              <a:buFont typeface="Arial"/>
              <a:buChar char="•"/>
            </a:pPr>
            <a:r>
              <a:rPr lang="en-US" sz="2599">
                <a:solidFill>
                  <a:srgbClr val="FFFFFF"/>
                </a:solidFill>
                <a:latin typeface="Telegraf"/>
                <a:ea typeface="Telegraf"/>
                <a:cs typeface="Telegraf"/>
                <a:sym typeface="Telegraf"/>
              </a:rPr>
              <a:t>Poor adaptation to unseen attacks.</a:t>
            </a:r>
          </a:p>
          <a:p>
            <a:pPr algn="l" marL="561339" indent="-280669" lvl="1">
              <a:lnSpc>
                <a:spcPts val="4107"/>
              </a:lnSpc>
              <a:buFont typeface="Arial"/>
              <a:buChar char="•"/>
            </a:pPr>
            <a:r>
              <a:rPr lang="en-US" sz="2599">
                <a:solidFill>
                  <a:srgbClr val="FFFFFF"/>
                </a:solidFill>
                <a:latin typeface="Telegraf"/>
                <a:ea typeface="Telegraf"/>
                <a:cs typeface="Telegraf"/>
                <a:sym typeface="Telegraf"/>
              </a:rPr>
              <a:t>No memory retention across sequential tasks.</a:t>
            </a:r>
          </a:p>
        </p:txBody>
      </p:sp>
      <p:sp>
        <p:nvSpPr>
          <p:cNvPr name="TextBox 11" id="11"/>
          <p:cNvSpPr txBox="true"/>
          <p:nvPr/>
        </p:nvSpPr>
        <p:spPr>
          <a:xfrm rot="0">
            <a:off x="10374973" y="3420349"/>
            <a:ext cx="4871680"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Research Gap Identified</a:t>
            </a:r>
          </a:p>
        </p:txBody>
      </p:sp>
      <p:sp>
        <p:nvSpPr>
          <p:cNvPr name="TextBox 12" id="12"/>
          <p:cNvSpPr txBox="true"/>
          <p:nvPr/>
        </p:nvSpPr>
        <p:spPr>
          <a:xfrm rot="0">
            <a:off x="9982231" y="4386795"/>
            <a:ext cx="7537068" cy="3201289"/>
          </a:xfrm>
          <a:prstGeom prst="rect">
            <a:avLst/>
          </a:prstGeom>
        </p:spPr>
        <p:txBody>
          <a:bodyPr anchor="t" rtlCol="false" tIns="0" lIns="0" bIns="0" rIns="0">
            <a:spAutoFit/>
          </a:bodyPr>
          <a:lstStyle/>
          <a:p>
            <a:pPr algn="l" marL="561339" indent="-280669" lvl="1">
              <a:lnSpc>
                <a:spcPts val="4237"/>
              </a:lnSpc>
              <a:buFont typeface="Arial"/>
              <a:buChar char="•"/>
            </a:pPr>
            <a:r>
              <a:rPr lang="en-US" sz="2599">
                <a:solidFill>
                  <a:srgbClr val="FFFFFF"/>
                </a:solidFill>
                <a:latin typeface="Telegraf"/>
                <a:ea typeface="Telegraf"/>
                <a:cs typeface="Telegraf"/>
                <a:sym typeface="Telegraf"/>
              </a:rPr>
              <a:t>Limited use of graph-based cybersecurity learning.</a:t>
            </a:r>
          </a:p>
          <a:p>
            <a:pPr algn="l" marL="561339" indent="-280669" lvl="1">
              <a:lnSpc>
                <a:spcPts val="4237"/>
              </a:lnSpc>
              <a:buFont typeface="Arial"/>
              <a:buChar char="•"/>
            </a:pPr>
            <a:r>
              <a:rPr lang="en-US" sz="2599">
                <a:solidFill>
                  <a:srgbClr val="FFFFFF"/>
                </a:solidFill>
                <a:latin typeface="Telegraf"/>
                <a:ea typeface="Telegraf"/>
                <a:cs typeface="Telegraf"/>
                <a:sym typeface="Telegraf"/>
              </a:rPr>
              <a:t>Lack of continual learning mechanisms in IDS systems.</a:t>
            </a:r>
          </a:p>
          <a:p>
            <a:pPr algn="l" marL="561339" indent="-280669" lvl="1">
              <a:lnSpc>
                <a:spcPts val="4237"/>
              </a:lnSpc>
              <a:buFont typeface="Arial"/>
              <a:buChar char="•"/>
            </a:pPr>
            <a:r>
              <a:rPr lang="en-US" sz="2599">
                <a:solidFill>
                  <a:srgbClr val="FFFFFF"/>
                </a:solidFill>
                <a:latin typeface="Telegraf"/>
                <a:ea typeface="Telegraf"/>
                <a:cs typeface="Telegraf"/>
                <a:sym typeface="Telegraf"/>
              </a:rPr>
              <a:t>Need for adaptive models capable of handling evolving APT behaviors.</a:t>
            </a:r>
          </a:p>
        </p:txBody>
      </p:sp>
    </p:spTree>
  </p:cSld>
  <p:clrMapOvr>
    <a:masterClrMapping/>
  </p:clrMapOvr>
</p:sld>
</file>

<file path=ppt/slides/slide5.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7865943" y="6881210"/>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099195" y="447675"/>
            <a:ext cx="8496776" cy="694056"/>
          </a:xfrm>
          <a:prstGeom prst="rect">
            <a:avLst/>
          </a:prstGeom>
        </p:spPr>
        <p:txBody>
          <a:bodyPr anchor="t" rtlCol="false" tIns="0" lIns="0" bIns="0" rIns="0">
            <a:spAutoFit/>
          </a:bodyPr>
          <a:lstStyle/>
          <a:p>
            <a:pPr algn="ctr">
              <a:lnSpc>
                <a:spcPts val="5319"/>
              </a:lnSpc>
              <a:spcBef>
                <a:spcPct val="0"/>
              </a:spcBef>
            </a:pPr>
            <a:r>
              <a:rPr lang="en-US" b="true" sz="3799" u="sng">
                <a:solidFill>
                  <a:srgbClr val="FFFFFF"/>
                </a:solidFill>
                <a:latin typeface="Telegraf Bold"/>
                <a:ea typeface="Telegraf Bold"/>
                <a:cs typeface="Telegraf Bold"/>
                <a:sym typeface="Telegraf Bold"/>
              </a:rPr>
              <a:t>Proposed Methodology in the Paper</a:t>
            </a:r>
          </a:p>
        </p:txBody>
      </p:sp>
      <p:sp>
        <p:nvSpPr>
          <p:cNvPr name="TextBox 7" id="7"/>
          <p:cNvSpPr txBox="true"/>
          <p:nvPr/>
        </p:nvSpPr>
        <p:spPr>
          <a:xfrm rot="0">
            <a:off x="978107" y="2357653"/>
            <a:ext cx="6740128"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Overall Architecture / Framework:</a:t>
            </a:r>
          </a:p>
        </p:txBody>
      </p:sp>
      <p:sp>
        <p:nvSpPr>
          <p:cNvPr name="TextBox 8" id="8"/>
          <p:cNvSpPr txBox="true"/>
          <p:nvPr/>
        </p:nvSpPr>
        <p:spPr>
          <a:xfrm rot="0">
            <a:off x="1346903" y="3386353"/>
            <a:ext cx="8245139" cy="23056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Network flow records are transformed into graph nodes.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Edges represent communication relationships.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GNN models learn structural attack behavior.</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Replay buffer preserves previous task knowledge.</a:t>
            </a:r>
          </a:p>
        </p:txBody>
      </p:sp>
      <p:sp>
        <p:nvSpPr>
          <p:cNvPr name="TextBox 9" id="9"/>
          <p:cNvSpPr txBox="true"/>
          <p:nvPr/>
        </p:nvSpPr>
        <p:spPr>
          <a:xfrm rot="0">
            <a:off x="1346903" y="6139713"/>
            <a:ext cx="4458772"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Main Techniques Used</a:t>
            </a:r>
          </a:p>
        </p:txBody>
      </p:sp>
      <p:sp>
        <p:nvSpPr>
          <p:cNvPr name="TextBox 10" id="10"/>
          <p:cNvSpPr txBox="true"/>
          <p:nvPr/>
        </p:nvSpPr>
        <p:spPr>
          <a:xfrm rot="0">
            <a:off x="2074283" y="7172858"/>
            <a:ext cx="6098024" cy="934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Graph Convolutional Network (GCN)</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Rehearsal-Based Continual Learning</a:t>
            </a:r>
          </a:p>
        </p:txBody>
      </p:sp>
      <p:sp>
        <p:nvSpPr>
          <p:cNvPr name="TextBox 11" id="11"/>
          <p:cNvSpPr txBox="true"/>
          <p:nvPr/>
        </p:nvSpPr>
        <p:spPr>
          <a:xfrm rot="0">
            <a:off x="10306246" y="2838660"/>
            <a:ext cx="6925866"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Workflow of the Proposed System:</a:t>
            </a:r>
          </a:p>
        </p:txBody>
      </p:sp>
      <p:sp>
        <p:nvSpPr>
          <p:cNvPr name="TextBox 12" id="12"/>
          <p:cNvSpPr txBox="true"/>
          <p:nvPr/>
        </p:nvSpPr>
        <p:spPr>
          <a:xfrm rot="0">
            <a:off x="10385661" y="3898798"/>
            <a:ext cx="5866686" cy="3491230"/>
          </a:xfrm>
          <a:prstGeom prst="rect">
            <a:avLst/>
          </a:prstGeom>
        </p:spPr>
        <p:txBody>
          <a:bodyPr anchor="t" rtlCol="false" tIns="0" lIns="0" bIns="0" rIns="0">
            <a:spAutoFit/>
          </a:bodyPr>
          <a:lstStyle/>
          <a:p>
            <a:pPr algn="l" marL="604521" indent="-302261" lvl="1">
              <a:lnSpc>
                <a:spcPts val="3920"/>
              </a:lnSpc>
              <a:buAutoNum type="arabicPeriod" startAt="1"/>
            </a:pPr>
            <a:r>
              <a:rPr lang="en-US" sz="2800">
                <a:solidFill>
                  <a:srgbClr val="FFFFFF"/>
                </a:solidFill>
                <a:latin typeface="Telegraf"/>
                <a:ea typeface="Telegraf"/>
                <a:cs typeface="Telegraf"/>
                <a:sym typeface="Telegraf"/>
              </a:rPr>
              <a:t>Data preprocessing</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Feature normalization</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Temporal task division</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Graph construction</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GNN training</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Replay-based continual learning</a:t>
            </a:r>
          </a:p>
          <a:p>
            <a:pPr algn="l" marL="604521" indent="-302261" lvl="1">
              <a:lnSpc>
                <a:spcPts val="3920"/>
              </a:lnSpc>
              <a:buAutoNum type="arabicPeriod" startAt="1"/>
            </a:pPr>
            <a:r>
              <a:rPr lang="en-US" sz="2800">
                <a:solidFill>
                  <a:srgbClr val="FFFFFF"/>
                </a:solidFill>
                <a:latin typeface="Telegraf"/>
                <a:ea typeface="Telegraf"/>
                <a:cs typeface="Telegraf"/>
                <a:sym typeface="Telegraf"/>
              </a:rPr>
              <a:t>Evaluation and analysis</a:t>
            </a:r>
          </a:p>
        </p:txBody>
      </p:sp>
    </p:spTree>
  </p:cSld>
  <p:clrMapOvr>
    <a:masterClrMapping/>
  </p:clrMapOvr>
</p:sld>
</file>

<file path=ppt/slides/slide6.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054184" y="399519"/>
            <a:ext cx="8940761" cy="694056"/>
          </a:xfrm>
          <a:prstGeom prst="rect">
            <a:avLst/>
          </a:prstGeom>
        </p:spPr>
        <p:txBody>
          <a:bodyPr anchor="t" rtlCol="false" tIns="0" lIns="0" bIns="0" rIns="0">
            <a:spAutoFit/>
          </a:bodyPr>
          <a:lstStyle/>
          <a:p>
            <a:pPr algn="ctr">
              <a:lnSpc>
                <a:spcPts val="5319"/>
              </a:lnSpc>
              <a:spcBef>
                <a:spcPct val="0"/>
              </a:spcBef>
            </a:pPr>
            <a:r>
              <a:rPr lang="en-US" b="true" sz="3799" u="sng">
                <a:solidFill>
                  <a:srgbClr val="FFFFFF"/>
                </a:solidFill>
                <a:latin typeface="Telegraf Bold"/>
                <a:ea typeface="Telegraf Bold"/>
                <a:cs typeface="Telegraf Bold"/>
                <a:sym typeface="Telegraf Bold"/>
              </a:rPr>
              <a:t>Tools, Technologies, and Dataset Used</a:t>
            </a:r>
          </a:p>
        </p:txBody>
      </p:sp>
      <p:sp>
        <p:nvSpPr>
          <p:cNvPr name="TextBox 7" id="7"/>
          <p:cNvSpPr txBox="true"/>
          <p:nvPr/>
        </p:nvSpPr>
        <p:spPr>
          <a:xfrm rot="0">
            <a:off x="1640395" y="1449282"/>
            <a:ext cx="4584383"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Software and Libraries:</a:t>
            </a:r>
          </a:p>
        </p:txBody>
      </p:sp>
      <p:sp>
        <p:nvSpPr>
          <p:cNvPr name="TextBox 8" id="8"/>
          <p:cNvSpPr txBox="true"/>
          <p:nvPr/>
        </p:nvSpPr>
        <p:spPr>
          <a:xfrm rot="0">
            <a:off x="1640395" y="2227388"/>
            <a:ext cx="4110395" cy="3220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Python 3</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PyTorch</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PyTorch Geometric</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Scikit-learn</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Pandas and NumPy</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NetworkX</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Matplotlib and Seaborn</a:t>
            </a:r>
          </a:p>
        </p:txBody>
      </p:sp>
      <p:sp>
        <p:nvSpPr>
          <p:cNvPr name="TextBox 9" id="9"/>
          <p:cNvSpPr txBox="true"/>
          <p:nvPr/>
        </p:nvSpPr>
        <p:spPr>
          <a:xfrm rot="0">
            <a:off x="1442534" y="6003823"/>
            <a:ext cx="6534150" cy="561975"/>
          </a:xfrm>
          <a:prstGeom prst="rect">
            <a:avLst/>
          </a:prstGeom>
        </p:spPr>
        <p:txBody>
          <a:bodyPr anchor="t" rtlCol="false" tIns="0" lIns="0" bIns="0" rIns="0">
            <a:spAutoFit/>
          </a:bodyPr>
          <a:lstStyle/>
          <a:p>
            <a:pPr algn="ctr">
              <a:lnSpc>
                <a:spcPts val="4200"/>
              </a:lnSpc>
              <a:spcBef>
                <a:spcPct val="0"/>
              </a:spcBef>
            </a:pPr>
            <a:r>
              <a:rPr lang="en-US" sz="3000">
                <a:solidFill>
                  <a:srgbClr val="FFFFFF"/>
                </a:solidFill>
                <a:latin typeface="Telegraf"/>
                <a:ea typeface="Telegraf"/>
                <a:cs typeface="Telegraf"/>
                <a:sym typeface="Telegraf"/>
              </a:rPr>
              <a:t>Programming Language / Framework</a:t>
            </a:r>
          </a:p>
        </p:txBody>
      </p:sp>
      <p:sp>
        <p:nvSpPr>
          <p:cNvPr name="TextBox 10" id="10"/>
          <p:cNvSpPr txBox="true"/>
          <p:nvPr/>
        </p:nvSpPr>
        <p:spPr>
          <a:xfrm rot="0">
            <a:off x="1640395" y="6704513"/>
            <a:ext cx="6066234" cy="2050923"/>
          </a:xfrm>
          <a:prstGeom prst="rect">
            <a:avLst/>
          </a:prstGeom>
        </p:spPr>
        <p:txBody>
          <a:bodyPr anchor="t" rtlCol="false" tIns="0" lIns="0" bIns="0" rIns="0">
            <a:spAutoFit/>
          </a:bodyPr>
          <a:lstStyle/>
          <a:p>
            <a:pPr algn="l" marL="518160" indent="-259080" lvl="1">
              <a:lnSpc>
                <a:spcPts val="4056"/>
              </a:lnSpc>
              <a:buFont typeface="Arial"/>
              <a:buChar char="•"/>
            </a:pPr>
            <a:r>
              <a:rPr lang="en-US" b="true" sz="2400">
                <a:solidFill>
                  <a:srgbClr val="FFFFFF"/>
                </a:solidFill>
                <a:latin typeface="Telegraf Bold"/>
                <a:ea typeface="Telegraf Bold"/>
                <a:cs typeface="Telegraf Bold"/>
                <a:sym typeface="Telegraf Bold"/>
              </a:rPr>
              <a:t>Programming Language:</a:t>
            </a:r>
            <a:r>
              <a:rPr lang="en-US" sz="2400">
                <a:solidFill>
                  <a:srgbClr val="FFFFFF"/>
                </a:solidFill>
                <a:latin typeface="Telegraf"/>
                <a:ea typeface="Telegraf"/>
                <a:cs typeface="Telegraf"/>
                <a:sym typeface="Telegraf"/>
              </a:rPr>
              <a:t> Python</a:t>
            </a:r>
          </a:p>
          <a:p>
            <a:pPr algn="l" marL="518160" indent="-259080" lvl="1">
              <a:lnSpc>
                <a:spcPts val="4056"/>
              </a:lnSpc>
              <a:buFont typeface="Arial"/>
              <a:buChar char="•"/>
            </a:pPr>
            <a:r>
              <a:rPr lang="en-US" b="true" sz="2400">
                <a:solidFill>
                  <a:srgbClr val="FFFFFF"/>
                </a:solidFill>
                <a:latin typeface="Telegraf Bold"/>
                <a:ea typeface="Telegraf Bold"/>
                <a:cs typeface="Telegraf Bold"/>
                <a:sym typeface="Telegraf Bold"/>
              </a:rPr>
              <a:t>Deep Learning Framework:</a:t>
            </a:r>
            <a:r>
              <a:rPr lang="en-US" sz="2400">
                <a:solidFill>
                  <a:srgbClr val="FFFFFF"/>
                </a:solidFill>
                <a:latin typeface="Telegraf"/>
                <a:ea typeface="Telegraf"/>
                <a:cs typeface="Telegraf"/>
                <a:sym typeface="Telegraf"/>
              </a:rPr>
              <a:t> PyTorch</a:t>
            </a:r>
          </a:p>
          <a:p>
            <a:pPr algn="l" marL="518160" indent="-259080" lvl="1">
              <a:lnSpc>
                <a:spcPts val="4056"/>
              </a:lnSpc>
              <a:buFont typeface="Arial"/>
              <a:buChar char="•"/>
            </a:pPr>
            <a:r>
              <a:rPr lang="en-US" b="true" sz="2400">
                <a:solidFill>
                  <a:srgbClr val="FFFFFF"/>
                </a:solidFill>
                <a:latin typeface="Telegraf Bold"/>
                <a:ea typeface="Telegraf Bold"/>
                <a:cs typeface="Telegraf Bold"/>
                <a:sym typeface="Telegraf Bold"/>
              </a:rPr>
              <a:t>Graph Framework:</a:t>
            </a:r>
            <a:r>
              <a:rPr lang="en-US" sz="2400">
                <a:solidFill>
                  <a:srgbClr val="FFFFFF"/>
                </a:solidFill>
                <a:latin typeface="Telegraf"/>
                <a:ea typeface="Telegraf"/>
                <a:cs typeface="Telegraf"/>
                <a:sym typeface="Telegraf"/>
              </a:rPr>
              <a:t> PyTorch Geometric</a:t>
            </a:r>
          </a:p>
          <a:p>
            <a:pPr algn="l" marL="518160" indent="-259080" lvl="1">
              <a:lnSpc>
                <a:spcPts val="4056"/>
              </a:lnSpc>
              <a:buFont typeface="Arial"/>
              <a:buChar char="•"/>
            </a:pPr>
            <a:r>
              <a:rPr lang="en-US" b="true" sz="2400">
                <a:solidFill>
                  <a:srgbClr val="FFFFFF"/>
                </a:solidFill>
                <a:latin typeface="Telegraf Bold"/>
                <a:ea typeface="Telegraf Bold"/>
                <a:cs typeface="Telegraf Bold"/>
                <a:sym typeface="Telegraf Bold"/>
              </a:rPr>
              <a:t>Runtime Environment:</a:t>
            </a:r>
            <a:r>
              <a:rPr lang="en-US" sz="2400">
                <a:solidFill>
                  <a:srgbClr val="FFFFFF"/>
                </a:solidFill>
                <a:latin typeface="Telegraf"/>
                <a:ea typeface="Telegraf"/>
                <a:cs typeface="Telegraf"/>
                <a:sym typeface="Telegraf"/>
              </a:rPr>
              <a:t> Google Colab</a:t>
            </a:r>
          </a:p>
        </p:txBody>
      </p:sp>
      <p:sp>
        <p:nvSpPr>
          <p:cNvPr name="TextBox 11" id="11"/>
          <p:cNvSpPr txBox="true"/>
          <p:nvPr/>
        </p:nvSpPr>
        <p:spPr>
          <a:xfrm rot="0">
            <a:off x="8751987" y="1737168"/>
            <a:ext cx="4030028" cy="575945"/>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Dataset Description:</a:t>
            </a:r>
          </a:p>
        </p:txBody>
      </p:sp>
      <p:sp>
        <p:nvSpPr>
          <p:cNvPr name="TextBox 12" id="12"/>
          <p:cNvSpPr txBox="true"/>
          <p:nvPr/>
        </p:nvSpPr>
        <p:spPr>
          <a:xfrm rot="0">
            <a:off x="9709547" y="5292273"/>
            <a:ext cx="4415195" cy="2671191"/>
          </a:xfrm>
          <a:prstGeom prst="rect">
            <a:avLst/>
          </a:prstGeom>
        </p:spPr>
        <p:txBody>
          <a:bodyPr anchor="t" rtlCol="false" tIns="0" lIns="0" bIns="0" rIns="0">
            <a:spAutoFit/>
          </a:bodyPr>
          <a:lstStyle/>
          <a:p>
            <a:pPr algn="l" marL="561339" indent="-280669" lvl="1">
              <a:lnSpc>
                <a:spcPts val="4211"/>
              </a:lnSpc>
              <a:buFont typeface="Arial"/>
              <a:buChar char="•"/>
            </a:pPr>
            <a:r>
              <a:rPr lang="en-US" b="true" sz="2599">
                <a:solidFill>
                  <a:srgbClr val="FFFFFF"/>
                </a:solidFill>
                <a:latin typeface="Telegraf Bold"/>
                <a:ea typeface="Telegraf Bold"/>
                <a:cs typeface="Telegraf Bold"/>
                <a:sym typeface="Telegraf Bold"/>
              </a:rPr>
              <a:t>Total Records:</a:t>
            </a:r>
            <a:r>
              <a:rPr lang="en-US" sz="2599">
                <a:solidFill>
                  <a:srgbClr val="FFFFFF"/>
                </a:solidFill>
                <a:latin typeface="Telegraf"/>
                <a:ea typeface="Telegraf"/>
                <a:cs typeface="Telegraf"/>
                <a:sym typeface="Telegraf"/>
              </a:rPr>
              <a:t> 1,671,272</a:t>
            </a:r>
          </a:p>
          <a:p>
            <a:pPr algn="l" marL="561339" indent="-280669" lvl="1">
              <a:lnSpc>
                <a:spcPts val="4211"/>
              </a:lnSpc>
              <a:buFont typeface="Arial"/>
              <a:buChar char="•"/>
            </a:pPr>
            <a:r>
              <a:rPr lang="en-US" b="true" sz="2599">
                <a:solidFill>
                  <a:srgbClr val="FFFFFF"/>
                </a:solidFill>
                <a:latin typeface="Telegraf Bold"/>
                <a:ea typeface="Telegraf Bold"/>
                <a:cs typeface="Telegraf Bold"/>
                <a:sym typeface="Telegraf Bold"/>
              </a:rPr>
              <a:t>Total Features: </a:t>
            </a:r>
            <a:r>
              <a:rPr lang="en-US" sz="2599">
                <a:solidFill>
                  <a:srgbClr val="FFFFFF"/>
                </a:solidFill>
                <a:latin typeface="Telegraf"/>
                <a:ea typeface="Telegraf"/>
                <a:cs typeface="Telegraf"/>
                <a:sym typeface="Telegraf"/>
              </a:rPr>
              <a:t>85</a:t>
            </a:r>
          </a:p>
          <a:p>
            <a:pPr algn="l" marL="561339" indent="-280669" lvl="1">
              <a:lnSpc>
                <a:spcPts val="4211"/>
              </a:lnSpc>
              <a:buFont typeface="Arial"/>
              <a:buChar char="•"/>
            </a:pPr>
            <a:r>
              <a:rPr lang="en-US" b="true" sz="2599">
                <a:solidFill>
                  <a:srgbClr val="FFFFFF"/>
                </a:solidFill>
                <a:latin typeface="Telegraf Bold"/>
                <a:ea typeface="Telegraf Bold"/>
                <a:cs typeface="Telegraf Bold"/>
                <a:sym typeface="Telegraf Bold"/>
              </a:rPr>
              <a:t>Node Features Used: </a:t>
            </a:r>
            <a:r>
              <a:rPr lang="en-US" sz="2599">
                <a:solidFill>
                  <a:srgbClr val="FFFFFF"/>
                </a:solidFill>
                <a:latin typeface="Telegraf"/>
                <a:ea typeface="Telegraf"/>
                <a:cs typeface="Telegraf"/>
                <a:sym typeface="Telegraf"/>
              </a:rPr>
              <a:t>80</a:t>
            </a:r>
          </a:p>
          <a:p>
            <a:pPr algn="l" marL="561339" indent="-280669" lvl="1">
              <a:lnSpc>
                <a:spcPts val="4211"/>
              </a:lnSpc>
              <a:buFont typeface="Arial"/>
              <a:buChar char="•"/>
            </a:pPr>
            <a:r>
              <a:rPr lang="en-US" b="true" sz="2599">
                <a:solidFill>
                  <a:srgbClr val="FFFFFF"/>
                </a:solidFill>
                <a:latin typeface="Telegraf Bold"/>
                <a:ea typeface="Telegraf Bold"/>
                <a:cs typeface="Telegraf Bold"/>
                <a:sym typeface="Telegraf Bold"/>
              </a:rPr>
              <a:t>Benign Flows: </a:t>
            </a:r>
            <a:r>
              <a:rPr lang="en-US" sz="2599">
                <a:solidFill>
                  <a:srgbClr val="FFFFFF"/>
                </a:solidFill>
                <a:latin typeface="Telegraf"/>
                <a:ea typeface="Telegraf"/>
                <a:cs typeface="Telegraf"/>
                <a:sym typeface="Telegraf"/>
              </a:rPr>
              <a:t>799,358</a:t>
            </a:r>
          </a:p>
          <a:p>
            <a:pPr algn="l" marL="561339" indent="-280669" lvl="1">
              <a:lnSpc>
                <a:spcPts val="4211"/>
              </a:lnSpc>
              <a:buFont typeface="Arial"/>
              <a:buChar char="•"/>
            </a:pPr>
            <a:r>
              <a:rPr lang="en-US" b="true" sz="2599">
                <a:solidFill>
                  <a:srgbClr val="FFFFFF"/>
                </a:solidFill>
                <a:latin typeface="Telegraf Bold"/>
                <a:ea typeface="Telegraf Bold"/>
                <a:cs typeface="Telegraf Bold"/>
                <a:sym typeface="Telegraf Bold"/>
              </a:rPr>
              <a:t>Malicious Flows: </a:t>
            </a:r>
            <a:r>
              <a:rPr lang="en-US" sz="2599">
                <a:solidFill>
                  <a:srgbClr val="FFFFFF"/>
                </a:solidFill>
                <a:latin typeface="Telegraf"/>
                <a:ea typeface="Telegraf"/>
                <a:cs typeface="Telegraf"/>
                <a:sym typeface="Telegraf"/>
              </a:rPr>
              <a:t>871,914</a:t>
            </a:r>
          </a:p>
        </p:txBody>
      </p:sp>
      <p:sp>
        <p:nvSpPr>
          <p:cNvPr name="TextBox 13" id="13"/>
          <p:cNvSpPr txBox="true"/>
          <p:nvPr/>
        </p:nvSpPr>
        <p:spPr>
          <a:xfrm rot="0">
            <a:off x="9247704" y="3215810"/>
            <a:ext cx="8232823" cy="934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APT Dataset</a:t>
            </a:r>
            <a:r>
              <a:rPr lang="en-US" sz="2599">
                <a:solidFill>
                  <a:srgbClr val="FFFFFF"/>
                </a:solidFill>
                <a:latin typeface="Telegraf"/>
                <a:ea typeface="Telegraf"/>
                <a:cs typeface="Telegraf"/>
                <a:sym typeface="Telegraf"/>
              </a:rPr>
              <a:t> (Kaggle substitute for Wazuh telemetry)</a:t>
            </a:r>
          </a:p>
        </p:txBody>
      </p:sp>
      <p:sp>
        <p:nvSpPr>
          <p:cNvPr name="TextBox 14" id="14"/>
          <p:cNvSpPr txBox="true"/>
          <p:nvPr/>
        </p:nvSpPr>
        <p:spPr>
          <a:xfrm rot="0">
            <a:off x="9182159" y="2598313"/>
            <a:ext cx="2734985" cy="575945"/>
          </a:xfrm>
          <a:prstGeom prst="rect">
            <a:avLst/>
          </a:prstGeom>
        </p:spPr>
        <p:txBody>
          <a:bodyPr anchor="t" rtlCol="false" tIns="0" lIns="0" bIns="0" rIns="0">
            <a:spAutoFit/>
          </a:bodyPr>
          <a:lstStyle/>
          <a:p>
            <a:pPr algn="ctr">
              <a:lnSpc>
                <a:spcPts val="4480"/>
              </a:lnSpc>
              <a:spcBef>
                <a:spcPct val="0"/>
              </a:spcBef>
            </a:pPr>
            <a:r>
              <a:rPr lang="en-US" b="true" sz="3200">
                <a:solidFill>
                  <a:srgbClr val="FFFFFF"/>
                </a:solidFill>
                <a:latin typeface="Telegraf Bold"/>
                <a:ea typeface="Telegraf Bold"/>
                <a:cs typeface="Telegraf Bold"/>
                <a:sym typeface="Telegraf Bold"/>
              </a:rPr>
              <a:t>Dataset Used:</a:t>
            </a:r>
          </a:p>
        </p:txBody>
      </p:sp>
      <p:sp>
        <p:nvSpPr>
          <p:cNvPr name="TextBox 15" id="15"/>
          <p:cNvSpPr txBox="true"/>
          <p:nvPr/>
        </p:nvSpPr>
        <p:spPr>
          <a:xfrm rot="0">
            <a:off x="9247704" y="4385171"/>
            <a:ext cx="3622119" cy="575945"/>
          </a:xfrm>
          <a:prstGeom prst="rect">
            <a:avLst/>
          </a:prstGeom>
        </p:spPr>
        <p:txBody>
          <a:bodyPr anchor="t" rtlCol="false" tIns="0" lIns="0" bIns="0" rIns="0">
            <a:spAutoFit/>
          </a:bodyPr>
          <a:lstStyle/>
          <a:p>
            <a:pPr algn="ctr">
              <a:lnSpc>
                <a:spcPts val="4480"/>
              </a:lnSpc>
              <a:spcBef>
                <a:spcPct val="0"/>
              </a:spcBef>
            </a:pPr>
            <a:r>
              <a:rPr lang="en-US" b="true" sz="3200">
                <a:solidFill>
                  <a:srgbClr val="FFFFFF"/>
                </a:solidFill>
                <a:latin typeface="Telegraf Bold"/>
                <a:ea typeface="Telegraf Bold"/>
                <a:cs typeface="Telegraf Bold"/>
                <a:sym typeface="Telegraf Bold"/>
              </a:rPr>
              <a:t>Dataset Statistics:</a:t>
            </a:r>
          </a:p>
        </p:txBody>
      </p:sp>
    </p:spTree>
  </p:cSld>
  <p:clrMapOvr>
    <a:masterClrMapping/>
  </p:clrMapOvr>
</p:sld>
</file>

<file path=ppt/slides/slide7.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185033"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5221584" y="498579"/>
            <a:ext cx="5588318" cy="694055"/>
          </a:xfrm>
          <a:prstGeom prst="rect">
            <a:avLst/>
          </a:prstGeom>
        </p:spPr>
        <p:txBody>
          <a:bodyPr anchor="t" rtlCol="false" tIns="0" lIns="0" bIns="0" rIns="0">
            <a:spAutoFit/>
          </a:bodyPr>
          <a:lstStyle/>
          <a:p>
            <a:pPr algn="ctr">
              <a:lnSpc>
                <a:spcPts val="5320"/>
              </a:lnSpc>
              <a:spcBef>
                <a:spcPct val="0"/>
              </a:spcBef>
            </a:pPr>
            <a:r>
              <a:rPr lang="en-US" b="true" sz="3800" u="sng">
                <a:solidFill>
                  <a:srgbClr val="FFFFFF"/>
                </a:solidFill>
                <a:latin typeface="Telegraf Bold"/>
                <a:ea typeface="Telegraf Bold"/>
                <a:cs typeface="Telegraf Bold"/>
                <a:sym typeface="Telegraf Bold"/>
              </a:rPr>
              <a:t>Implementation Details</a:t>
            </a:r>
          </a:p>
        </p:txBody>
      </p:sp>
      <p:sp>
        <p:nvSpPr>
          <p:cNvPr name="TextBox 7" id="7"/>
          <p:cNvSpPr txBox="true"/>
          <p:nvPr/>
        </p:nvSpPr>
        <p:spPr>
          <a:xfrm rot="0">
            <a:off x="1719442" y="1701458"/>
            <a:ext cx="3997523" cy="575945"/>
          </a:xfrm>
          <a:prstGeom prst="rect">
            <a:avLst/>
          </a:prstGeom>
        </p:spPr>
        <p:txBody>
          <a:bodyPr anchor="t" rtlCol="false" tIns="0" lIns="0" bIns="0" rIns="0">
            <a:spAutoFit/>
          </a:bodyPr>
          <a:lstStyle/>
          <a:p>
            <a:pPr algn="ctr">
              <a:lnSpc>
                <a:spcPts val="4480"/>
              </a:lnSpc>
              <a:spcBef>
                <a:spcPct val="0"/>
              </a:spcBef>
            </a:pPr>
            <a:r>
              <a:rPr lang="en-US" b="true" sz="3200">
                <a:solidFill>
                  <a:srgbClr val="FFFFFF"/>
                </a:solidFill>
                <a:latin typeface="Telegraf Bold"/>
                <a:ea typeface="Telegraf Bold"/>
                <a:cs typeface="Telegraf Bold"/>
                <a:sym typeface="Telegraf Bold"/>
              </a:rPr>
              <a:t>Modules Developed:</a:t>
            </a:r>
          </a:p>
        </p:txBody>
      </p:sp>
      <p:sp>
        <p:nvSpPr>
          <p:cNvPr name="TextBox 8" id="8"/>
          <p:cNvSpPr txBox="true"/>
          <p:nvPr/>
        </p:nvSpPr>
        <p:spPr>
          <a:xfrm rot="0">
            <a:off x="1901824" y="2439314"/>
            <a:ext cx="5323404" cy="27628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Data preprocessing module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Graph construction module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Baseline model implementation</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GNN training module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Replay buffer module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Evaluation module</a:t>
            </a:r>
          </a:p>
        </p:txBody>
      </p:sp>
      <p:sp>
        <p:nvSpPr>
          <p:cNvPr name="TextBox 9" id="9"/>
          <p:cNvSpPr txBox="true"/>
          <p:nvPr/>
        </p:nvSpPr>
        <p:spPr>
          <a:xfrm rot="0">
            <a:off x="9144000" y="2463443"/>
            <a:ext cx="6232684"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System Design / Block Diagram</a:t>
            </a:r>
          </a:p>
        </p:txBody>
      </p:sp>
      <p:sp>
        <p:nvSpPr>
          <p:cNvPr name="TextBox 10" id="10"/>
          <p:cNvSpPr txBox="true"/>
          <p:nvPr/>
        </p:nvSpPr>
        <p:spPr>
          <a:xfrm rot="0">
            <a:off x="9305725" y="3477539"/>
            <a:ext cx="3537466" cy="519430"/>
          </a:xfrm>
          <a:prstGeom prst="rect">
            <a:avLst/>
          </a:prstGeom>
        </p:spPr>
        <p:txBody>
          <a:bodyPr anchor="t" rtlCol="false" tIns="0" lIns="0" bIns="0" rIns="0">
            <a:spAutoFit/>
          </a:bodyPr>
          <a:lstStyle/>
          <a:p>
            <a:pPr algn="ctr">
              <a:lnSpc>
                <a:spcPts val="3919"/>
              </a:lnSpc>
              <a:spcBef>
                <a:spcPct val="0"/>
              </a:spcBef>
            </a:pPr>
            <a:r>
              <a:rPr lang="en-US" b="true" sz="2799">
                <a:solidFill>
                  <a:srgbClr val="FFFFFF"/>
                </a:solidFill>
                <a:latin typeface="Telegraf Bold"/>
                <a:ea typeface="Telegraf Bold"/>
                <a:cs typeface="Telegraf Bold"/>
                <a:sym typeface="Telegraf Bold"/>
              </a:rPr>
              <a:t>Graph Construction:</a:t>
            </a:r>
          </a:p>
        </p:txBody>
      </p:sp>
      <p:sp>
        <p:nvSpPr>
          <p:cNvPr name="TextBox 11" id="11"/>
          <p:cNvSpPr txBox="true"/>
          <p:nvPr/>
        </p:nvSpPr>
        <p:spPr>
          <a:xfrm rot="0">
            <a:off x="9673748" y="4233187"/>
            <a:ext cx="6075522" cy="4768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Each network flow becomes a node.</a:t>
            </a:r>
          </a:p>
        </p:txBody>
      </p:sp>
      <p:sp>
        <p:nvSpPr>
          <p:cNvPr name="TextBox 12" id="12"/>
          <p:cNvSpPr txBox="true"/>
          <p:nvPr/>
        </p:nvSpPr>
        <p:spPr>
          <a:xfrm rot="0">
            <a:off x="9486998" y="5151563"/>
            <a:ext cx="2014299" cy="519430"/>
          </a:xfrm>
          <a:prstGeom prst="rect">
            <a:avLst/>
          </a:prstGeom>
        </p:spPr>
        <p:txBody>
          <a:bodyPr anchor="t" rtlCol="false" tIns="0" lIns="0" bIns="0" rIns="0">
            <a:spAutoFit/>
          </a:bodyPr>
          <a:lstStyle/>
          <a:p>
            <a:pPr algn="ctr">
              <a:lnSpc>
                <a:spcPts val="3919"/>
              </a:lnSpc>
              <a:spcBef>
                <a:spcPct val="0"/>
              </a:spcBef>
            </a:pPr>
            <a:r>
              <a:rPr lang="en-US" b="true" sz="2799">
                <a:solidFill>
                  <a:srgbClr val="FFFFFF"/>
                </a:solidFill>
                <a:latin typeface="Telegraf Bold"/>
                <a:ea typeface="Telegraf Bold"/>
                <a:cs typeface="Telegraf Bold"/>
                <a:sym typeface="Telegraf Bold"/>
              </a:rPr>
              <a:t>Edge Types</a:t>
            </a:r>
          </a:p>
        </p:txBody>
      </p:sp>
      <p:sp>
        <p:nvSpPr>
          <p:cNvPr name="TextBox 13" id="13"/>
          <p:cNvSpPr txBox="true"/>
          <p:nvPr/>
        </p:nvSpPr>
        <p:spPr>
          <a:xfrm rot="0">
            <a:off x="9673748" y="5877368"/>
            <a:ext cx="4711660" cy="13912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Same Source IP edges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Same Destination IP edges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Temporal adjacency edges</a:t>
            </a:r>
          </a:p>
        </p:txBody>
      </p:sp>
      <p:sp>
        <p:nvSpPr>
          <p:cNvPr name="TextBox 14" id="14"/>
          <p:cNvSpPr txBox="true"/>
          <p:nvPr/>
        </p:nvSpPr>
        <p:spPr>
          <a:xfrm rot="0">
            <a:off x="1421017" y="5627496"/>
            <a:ext cx="5406033" cy="575945"/>
          </a:xfrm>
          <a:prstGeom prst="rect">
            <a:avLst/>
          </a:prstGeom>
        </p:spPr>
        <p:txBody>
          <a:bodyPr anchor="t" rtlCol="false" tIns="0" lIns="0" bIns="0" rIns="0">
            <a:spAutoFit/>
          </a:bodyPr>
          <a:lstStyle/>
          <a:p>
            <a:pPr algn="ctr">
              <a:lnSpc>
                <a:spcPts val="4480"/>
              </a:lnSpc>
              <a:spcBef>
                <a:spcPct val="0"/>
              </a:spcBef>
            </a:pPr>
            <a:r>
              <a:rPr lang="en-US" b="true" sz="3200">
                <a:solidFill>
                  <a:srgbClr val="FFFFFF"/>
                </a:solidFill>
                <a:latin typeface="Telegraf Bold"/>
                <a:ea typeface="Telegraf Bold"/>
                <a:cs typeface="Telegraf Bold"/>
                <a:sym typeface="Telegraf Bold"/>
              </a:rPr>
              <a:t>Key Implementation Steps:</a:t>
            </a:r>
          </a:p>
        </p:txBody>
      </p:sp>
      <p:sp>
        <p:nvSpPr>
          <p:cNvPr name="TextBox 15" id="15"/>
          <p:cNvSpPr txBox="true"/>
          <p:nvPr/>
        </p:nvSpPr>
        <p:spPr>
          <a:xfrm rot="0">
            <a:off x="1608540" y="6552113"/>
            <a:ext cx="7326273" cy="23056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Temporal sorting of flows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Sequential task splitting</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Feature scaling using StandardScaler</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Replay memory integration during training</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Task-wise evaluation after continual learning</a:t>
            </a:r>
          </a:p>
        </p:txBody>
      </p:sp>
    </p:spTree>
  </p:cSld>
  <p:clrMapOvr>
    <a:masterClrMapping/>
  </p:clrMapOvr>
</p:sld>
</file>

<file path=ppt/slides/slide8.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3032267" y="498579"/>
            <a:ext cx="10188178" cy="694056"/>
          </a:xfrm>
          <a:prstGeom prst="rect">
            <a:avLst/>
          </a:prstGeom>
        </p:spPr>
        <p:txBody>
          <a:bodyPr anchor="t" rtlCol="false" tIns="0" lIns="0" bIns="0" rIns="0">
            <a:spAutoFit/>
          </a:bodyPr>
          <a:lstStyle/>
          <a:p>
            <a:pPr algn="ctr">
              <a:lnSpc>
                <a:spcPts val="5319"/>
              </a:lnSpc>
              <a:spcBef>
                <a:spcPct val="0"/>
              </a:spcBef>
            </a:pPr>
            <a:r>
              <a:rPr lang="en-US" b="true" sz="3799" u="sng">
                <a:solidFill>
                  <a:srgbClr val="FFFFFF"/>
                </a:solidFill>
                <a:latin typeface="Telegraf Bold"/>
                <a:ea typeface="Telegraf Bold"/>
                <a:cs typeface="Telegraf Bold"/>
                <a:sym typeface="Telegraf Bold"/>
              </a:rPr>
              <a:t>Experimental Setup and Evaluation Metrics</a:t>
            </a:r>
          </a:p>
        </p:txBody>
      </p:sp>
      <p:sp>
        <p:nvSpPr>
          <p:cNvPr name="TextBox 7" id="7"/>
          <p:cNvSpPr txBox="true"/>
          <p:nvPr/>
        </p:nvSpPr>
        <p:spPr>
          <a:xfrm rot="0">
            <a:off x="1546274" y="2178895"/>
            <a:ext cx="6805256" cy="575945"/>
          </a:xfrm>
          <a:prstGeom prst="rect">
            <a:avLst/>
          </a:prstGeom>
        </p:spPr>
        <p:txBody>
          <a:bodyPr anchor="t" rtlCol="false" tIns="0" lIns="0" bIns="0" rIns="0">
            <a:spAutoFit/>
          </a:bodyPr>
          <a:lstStyle/>
          <a:p>
            <a:pPr algn="ctr">
              <a:lnSpc>
                <a:spcPts val="4480"/>
              </a:lnSpc>
              <a:spcBef>
                <a:spcPct val="0"/>
              </a:spcBef>
            </a:pPr>
            <a:r>
              <a:rPr lang="en-US" b="true" sz="3200">
                <a:solidFill>
                  <a:srgbClr val="FFFFFF"/>
                </a:solidFill>
                <a:latin typeface="Telegraf Bold"/>
                <a:ea typeface="Telegraf Bold"/>
                <a:cs typeface="Telegraf Bold"/>
                <a:sym typeface="Telegraf Bold"/>
              </a:rPr>
              <a:t>Hardware / Software Environment</a:t>
            </a:r>
          </a:p>
        </p:txBody>
      </p:sp>
      <p:sp>
        <p:nvSpPr>
          <p:cNvPr name="TextBox 8" id="8"/>
          <p:cNvSpPr txBox="true"/>
          <p:nvPr/>
        </p:nvSpPr>
        <p:spPr>
          <a:xfrm rot="0">
            <a:off x="2023300" y="2987675"/>
            <a:ext cx="5063252" cy="934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Google Colab</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PyTorch + PyTorch Geometric</a:t>
            </a:r>
          </a:p>
        </p:txBody>
      </p:sp>
      <p:sp>
        <p:nvSpPr>
          <p:cNvPr name="TextBox 9" id="9"/>
          <p:cNvSpPr txBox="true"/>
          <p:nvPr/>
        </p:nvSpPr>
        <p:spPr>
          <a:xfrm rot="0">
            <a:off x="1432093" y="4586604"/>
            <a:ext cx="3638312"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Testing Procedure</a:t>
            </a:r>
          </a:p>
        </p:txBody>
      </p:sp>
      <p:sp>
        <p:nvSpPr>
          <p:cNvPr name="TextBox 10" id="10"/>
          <p:cNvSpPr txBox="true"/>
          <p:nvPr/>
        </p:nvSpPr>
        <p:spPr>
          <a:xfrm rot="0">
            <a:off x="1546274" y="5705475"/>
            <a:ext cx="6419612" cy="18484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Dataset divided into 5 sequential tasks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Training performed task-by-task</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Replay buffer used during later tasks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Evaluation performed after each task</a:t>
            </a:r>
          </a:p>
        </p:txBody>
      </p:sp>
      <p:sp>
        <p:nvSpPr>
          <p:cNvPr name="TextBox 11" id="11"/>
          <p:cNvSpPr txBox="true"/>
          <p:nvPr/>
        </p:nvSpPr>
        <p:spPr>
          <a:xfrm rot="0">
            <a:off x="9623840" y="2659590"/>
            <a:ext cx="5323999"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Performance Metrics Used</a:t>
            </a:r>
          </a:p>
        </p:txBody>
      </p:sp>
      <p:sp>
        <p:nvSpPr>
          <p:cNvPr name="TextBox 12" id="12"/>
          <p:cNvSpPr txBox="true"/>
          <p:nvPr/>
        </p:nvSpPr>
        <p:spPr>
          <a:xfrm rot="0">
            <a:off x="10824466" y="3640455"/>
            <a:ext cx="3166110" cy="3220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Accuracy</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Precision</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Recall</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F1-Score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ROC-AUC</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Confusion Matrix</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Forgetting Score</a:t>
            </a:r>
          </a:p>
        </p:txBody>
      </p:sp>
    </p:spTree>
  </p:cSld>
  <p:clrMapOvr>
    <a:masterClrMapping/>
  </p:clrMapOvr>
</p:sld>
</file>

<file path=ppt/slides/slide9.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940993" y="4348784"/>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372272" y="-1707287"/>
            <a:ext cx="11806472" cy="4850492"/>
          </a:xfrm>
          <a:custGeom>
            <a:avLst/>
            <a:gdLst/>
            <a:ahLst/>
            <a:cxnLst/>
            <a:rect r="r" b="b" t="t" l="l"/>
            <a:pathLst>
              <a:path h="4850492" w="11806472">
                <a:moveTo>
                  <a:pt x="0" y="4850492"/>
                </a:moveTo>
                <a:lnTo>
                  <a:pt x="11806471" y="4850492"/>
                </a:lnTo>
                <a:lnTo>
                  <a:pt x="11806471"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6032891" y="594134"/>
            <a:ext cx="4863941" cy="694055"/>
          </a:xfrm>
          <a:prstGeom prst="rect">
            <a:avLst/>
          </a:prstGeom>
        </p:spPr>
        <p:txBody>
          <a:bodyPr anchor="t" rtlCol="false" tIns="0" lIns="0" bIns="0" rIns="0">
            <a:spAutoFit/>
          </a:bodyPr>
          <a:lstStyle/>
          <a:p>
            <a:pPr algn="ctr">
              <a:lnSpc>
                <a:spcPts val="5320"/>
              </a:lnSpc>
              <a:spcBef>
                <a:spcPct val="0"/>
              </a:spcBef>
            </a:pPr>
            <a:r>
              <a:rPr lang="en-US" b="true" sz="3800" u="sng">
                <a:solidFill>
                  <a:srgbClr val="FFFFFF"/>
                </a:solidFill>
                <a:latin typeface="Telegraf Bold"/>
                <a:ea typeface="Telegraf Bold"/>
                <a:cs typeface="Telegraf Bold"/>
                <a:sym typeface="Telegraf Bold"/>
              </a:rPr>
              <a:t>Results and Analysis</a:t>
            </a:r>
          </a:p>
        </p:txBody>
      </p:sp>
      <p:sp>
        <p:nvSpPr>
          <p:cNvPr name="TextBox 7" id="7"/>
          <p:cNvSpPr txBox="true"/>
          <p:nvPr/>
        </p:nvSpPr>
        <p:spPr>
          <a:xfrm rot="0">
            <a:off x="2233695" y="1919815"/>
            <a:ext cx="4291012" cy="575946"/>
          </a:xfrm>
          <a:prstGeom prst="rect">
            <a:avLst/>
          </a:prstGeom>
        </p:spPr>
        <p:txBody>
          <a:bodyPr anchor="t" rtlCol="false" tIns="0" lIns="0" bIns="0" rIns="0">
            <a:spAutoFit/>
          </a:bodyPr>
          <a:lstStyle/>
          <a:p>
            <a:pPr algn="ctr">
              <a:lnSpc>
                <a:spcPts val="4479"/>
              </a:lnSpc>
              <a:spcBef>
                <a:spcPct val="0"/>
              </a:spcBef>
            </a:pPr>
            <a:r>
              <a:rPr lang="en-US" b="true" sz="3199">
                <a:solidFill>
                  <a:srgbClr val="FFFFFF"/>
                </a:solidFill>
                <a:latin typeface="Telegraf Bold"/>
                <a:ea typeface="Telegraf Bold"/>
                <a:cs typeface="Telegraf Bold"/>
                <a:sym typeface="Telegraf Bold"/>
              </a:rPr>
              <a:t>Experimental Results:</a:t>
            </a:r>
          </a:p>
        </p:txBody>
      </p:sp>
      <p:sp>
        <p:nvSpPr>
          <p:cNvPr name="TextBox 8" id="8"/>
          <p:cNvSpPr txBox="true"/>
          <p:nvPr/>
        </p:nvSpPr>
        <p:spPr>
          <a:xfrm rot="0">
            <a:off x="2197917" y="2838660"/>
            <a:ext cx="2907625"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Random Forest:</a:t>
            </a:r>
          </a:p>
        </p:txBody>
      </p:sp>
      <p:sp>
        <p:nvSpPr>
          <p:cNvPr name="TextBox 9" id="9"/>
          <p:cNvSpPr txBox="true"/>
          <p:nvPr/>
        </p:nvSpPr>
        <p:spPr>
          <a:xfrm rot="0">
            <a:off x="2233695" y="3652625"/>
            <a:ext cx="4937760" cy="934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Mean Accuracy: 95.84%</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Severe degradation in Task 5</a:t>
            </a:r>
          </a:p>
        </p:txBody>
      </p:sp>
      <p:sp>
        <p:nvSpPr>
          <p:cNvPr name="TextBox 10" id="10"/>
          <p:cNvSpPr txBox="true"/>
          <p:nvPr/>
        </p:nvSpPr>
        <p:spPr>
          <a:xfrm rot="0">
            <a:off x="2233695" y="5497499"/>
            <a:ext cx="5518190" cy="9340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Mean Accuracy: 95.64%</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Similar distribution shift problem</a:t>
            </a:r>
          </a:p>
        </p:txBody>
      </p:sp>
      <p:sp>
        <p:nvSpPr>
          <p:cNvPr name="TextBox 11" id="11"/>
          <p:cNvSpPr txBox="true"/>
          <p:nvPr/>
        </p:nvSpPr>
        <p:spPr>
          <a:xfrm rot="0">
            <a:off x="2197917" y="6877685"/>
            <a:ext cx="2405182"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GNN Models:</a:t>
            </a:r>
          </a:p>
        </p:txBody>
      </p:sp>
      <p:sp>
        <p:nvSpPr>
          <p:cNvPr name="TextBox 12" id="12"/>
          <p:cNvSpPr txBox="true"/>
          <p:nvPr/>
        </p:nvSpPr>
        <p:spPr>
          <a:xfrm rot="0">
            <a:off x="1985576" y="7421880"/>
            <a:ext cx="7985284" cy="13912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GCN + Replay: ~98.5%</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GraphSAGE + Replay: ~99%</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GAT showed strong structural learning capability</a:t>
            </a:r>
          </a:p>
        </p:txBody>
      </p:sp>
      <p:sp>
        <p:nvSpPr>
          <p:cNvPr name="TextBox 13" id="13"/>
          <p:cNvSpPr txBox="true"/>
          <p:nvPr/>
        </p:nvSpPr>
        <p:spPr>
          <a:xfrm rot="0">
            <a:off x="8973355" y="3650284"/>
            <a:ext cx="4715470"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Interpretation of Results:</a:t>
            </a:r>
          </a:p>
        </p:txBody>
      </p:sp>
      <p:sp>
        <p:nvSpPr>
          <p:cNvPr name="TextBox 14" id="14"/>
          <p:cNvSpPr txBox="true"/>
          <p:nvPr/>
        </p:nvSpPr>
        <p:spPr>
          <a:xfrm rot="0">
            <a:off x="8839052" y="4616119"/>
            <a:ext cx="9167336" cy="1848485"/>
          </a:xfrm>
          <a:prstGeom prst="rect">
            <a:avLst/>
          </a:prstGeom>
        </p:spPr>
        <p:txBody>
          <a:bodyPr anchor="t" rtlCol="false" tIns="0" lIns="0" bIns="0" rIns="0">
            <a:spAutoFit/>
          </a:bodyPr>
          <a:lstStyle/>
          <a:p>
            <a:pPr algn="l" marL="561339" indent="-280669" lvl="1">
              <a:lnSpc>
                <a:spcPts val="3639"/>
              </a:lnSpc>
              <a:buFont typeface="Arial"/>
              <a:buChar char="•"/>
            </a:pPr>
            <a:r>
              <a:rPr lang="en-US" sz="2599">
                <a:solidFill>
                  <a:srgbClr val="FFFFFF"/>
                </a:solidFill>
                <a:latin typeface="Telegraf"/>
                <a:ea typeface="Telegraf"/>
                <a:cs typeface="Telegraf"/>
                <a:sym typeface="Telegraf"/>
              </a:rPr>
              <a:t>Tasks 1–4 showed stable performance.</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Task 5 introduced major distribution shift.</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Classical models produced many false positives.</a:t>
            </a:r>
          </a:p>
          <a:p>
            <a:pPr algn="l" marL="561339" indent="-280669" lvl="1">
              <a:lnSpc>
                <a:spcPts val="3639"/>
              </a:lnSpc>
              <a:buFont typeface="Arial"/>
              <a:buChar char="•"/>
            </a:pPr>
            <a:r>
              <a:rPr lang="en-US" sz="2599">
                <a:solidFill>
                  <a:srgbClr val="FFFFFF"/>
                </a:solidFill>
                <a:latin typeface="Telegraf"/>
                <a:ea typeface="Telegraf"/>
                <a:cs typeface="Telegraf"/>
                <a:sym typeface="Telegraf"/>
              </a:rPr>
              <a:t>GNNs better captured evolving communication behavior.</a:t>
            </a:r>
          </a:p>
        </p:txBody>
      </p:sp>
      <p:sp>
        <p:nvSpPr>
          <p:cNvPr name="TextBox 15" id="15"/>
          <p:cNvSpPr txBox="true"/>
          <p:nvPr/>
        </p:nvSpPr>
        <p:spPr>
          <a:xfrm rot="0">
            <a:off x="2233695" y="4785664"/>
            <a:ext cx="886063"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MLP:</a:t>
            </a:r>
          </a:p>
        </p:txBody>
      </p:sp>
    </p:spTree>
  </p:cSld>
  <p:clrMapOvr>
    <a:masterClrMapping/>
  </p:clrMapOvr>
</p:sld>
</file>

<file path=ppt/slides/slide10.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91090" y="304338"/>
            <a:ext cx="5724860" cy="4318486"/>
          </a:xfrm>
          <a:custGeom>
            <a:avLst/>
            <a:gdLst/>
            <a:ahLst/>
            <a:cxnLst/>
            <a:rect r="r" b="b" t="t" l="l"/>
            <a:pathLst>
              <a:path h="4318486" w="5724860">
                <a:moveTo>
                  <a:pt x="0" y="0"/>
                </a:moveTo>
                <a:lnTo>
                  <a:pt x="5724860" y="0"/>
                </a:lnTo>
                <a:lnTo>
                  <a:pt x="5724860" y="4318486"/>
                </a:lnTo>
                <a:lnTo>
                  <a:pt x="0" y="4318486"/>
                </a:lnTo>
                <a:lnTo>
                  <a:pt x="0" y="0"/>
                </a:lnTo>
                <a:close/>
              </a:path>
            </a:pathLst>
          </a:custGeom>
          <a:blipFill>
            <a:blip r:embed="rId2"/>
            <a:stretch>
              <a:fillRect l="0" t="0" r="0" b="0"/>
            </a:stretch>
          </a:blipFill>
        </p:spPr>
      </p:sp>
      <p:sp>
        <p:nvSpPr>
          <p:cNvPr name="Freeform 3" id="3"/>
          <p:cNvSpPr/>
          <p:nvPr/>
        </p:nvSpPr>
        <p:spPr>
          <a:xfrm flipH="false" flipV="false" rot="0">
            <a:off x="9636376" y="521282"/>
            <a:ext cx="5560337" cy="4101542"/>
          </a:xfrm>
          <a:custGeom>
            <a:avLst/>
            <a:gdLst/>
            <a:ahLst/>
            <a:cxnLst/>
            <a:rect r="r" b="b" t="t" l="l"/>
            <a:pathLst>
              <a:path h="4101542" w="5560337">
                <a:moveTo>
                  <a:pt x="0" y="0"/>
                </a:moveTo>
                <a:lnTo>
                  <a:pt x="5560337" y="0"/>
                </a:lnTo>
                <a:lnTo>
                  <a:pt x="5560337" y="4101542"/>
                </a:lnTo>
                <a:lnTo>
                  <a:pt x="0" y="4101542"/>
                </a:lnTo>
                <a:lnTo>
                  <a:pt x="0" y="0"/>
                </a:lnTo>
                <a:close/>
              </a:path>
            </a:pathLst>
          </a:custGeom>
          <a:blipFill>
            <a:blip r:embed="rId3"/>
            <a:stretch>
              <a:fillRect l="0" t="0" r="0" b="0"/>
            </a:stretch>
          </a:blipFill>
        </p:spPr>
      </p:sp>
      <p:sp>
        <p:nvSpPr>
          <p:cNvPr name="Freeform 4" id="4"/>
          <p:cNvSpPr/>
          <p:nvPr/>
        </p:nvSpPr>
        <p:spPr>
          <a:xfrm flipH="false" flipV="false" rot="0">
            <a:off x="6050438" y="5267325"/>
            <a:ext cx="4788342" cy="3770499"/>
          </a:xfrm>
          <a:custGeom>
            <a:avLst/>
            <a:gdLst/>
            <a:ahLst/>
            <a:cxnLst/>
            <a:rect r="r" b="b" t="t" l="l"/>
            <a:pathLst>
              <a:path h="3770499" w="4788342">
                <a:moveTo>
                  <a:pt x="0" y="0"/>
                </a:moveTo>
                <a:lnTo>
                  <a:pt x="4788342" y="0"/>
                </a:lnTo>
                <a:lnTo>
                  <a:pt x="4788342" y="3770499"/>
                </a:lnTo>
                <a:lnTo>
                  <a:pt x="0" y="3770499"/>
                </a:lnTo>
                <a:lnTo>
                  <a:pt x="0" y="0"/>
                </a:lnTo>
                <a:close/>
              </a:path>
            </a:pathLst>
          </a:custGeom>
          <a:blipFill>
            <a:blip r:embed="rId4"/>
            <a:stretch>
              <a:fillRect l="0" t="0" r="0" b="0"/>
            </a:stretch>
          </a:blipFill>
        </p:spPr>
      </p:sp>
      <p:sp>
        <p:nvSpPr>
          <p:cNvPr name="TextBox 5" id="5"/>
          <p:cNvSpPr txBox="true"/>
          <p:nvPr/>
        </p:nvSpPr>
        <p:spPr>
          <a:xfrm rot="0">
            <a:off x="100848" y="4658934"/>
            <a:ext cx="6415101" cy="476885"/>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Telegraf"/>
                <a:ea typeface="Telegraf"/>
                <a:cs typeface="Telegraf"/>
                <a:sym typeface="Telegraf"/>
              </a:rPr>
              <a:t>Task-wise Accuracy Curve</a:t>
            </a:r>
          </a:p>
        </p:txBody>
      </p:sp>
      <p:sp>
        <p:nvSpPr>
          <p:cNvPr name="TextBox 6" id="6"/>
          <p:cNvSpPr txBox="true"/>
          <p:nvPr/>
        </p:nvSpPr>
        <p:spPr>
          <a:xfrm rot="0">
            <a:off x="9208994" y="4666615"/>
            <a:ext cx="6415101" cy="476885"/>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Telegraf"/>
                <a:ea typeface="Telegraf"/>
                <a:cs typeface="Telegraf"/>
                <a:sym typeface="Telegraf"/>
              </a:rPr>
              <a:t>Traning Loss Curve</a:t>
            </a:r>
          </a:p>
        </p:txBody>
      </p:sp>
      <p:sp>
        <p:nvSpPr>
          <p:cNvPr name="TextBox 7" id="7"/>
          <p:cNvSpPr txBox="true"/>
          <p:nvPr/>
        </p:nvSpPr>
        <p:spPr>
          <a:xfrm rot="0">
            <a:off x="5237058" y="9172575"/>
            <a:ext cx="6415101" cy="476885"/>
          </a:xfrm>
          <a:prstGeom prst="rect">
            <a:avLst/>
          </a:prstGeom>
        </p:spPr>
        <p:txBody>
          <a:bodyPr anchor="t" rtlCol="false" tIns="0" lIns="0" bIns="0" rIns="0">
            <a:spAutoFit/>
          </a:bodyPr>
          <a:lstStyle/>
          <a:p>
            <a:pPr algn="ctr">
              <a:lnSpc>
                <a:spcPts val="3639"/>
              </a:lnSpc>
              <a:spcBef>
                <a:spcPct val="0"/>
              </a:spcBef>
            </a:pPr>
            <a:r>
              <a:rPr lang="en-US" sz="2599">
                <a:solidFill>
                  <a:srgbClr val="FFFFFF"/>
                </a:solidFill>
                <a:latin typeface="Telegraf"/>
                <a:ea typeface="Telegraf"/>
                <a:cs typeface="Telegraf"/>
                <a:sym typeface="Telegraf"/>
              </a:rPr>
              <a:t>Confusion Metrix</a:t>
            </a:r>
          </a:p>
        </p:txBody>
      </p:sp>
    </p:spTree>
  </p:cSld>
  <p:clrMapOvr>
    <a:masterClrMapping/>
  </p:clrMapOvr>
</p:sld>
</file>

<file path=ppt/slides/slide11.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372272" y="-1707287"/>
            <a:ext cx="11806472" cy="4850492"/>
          </a:xfrm>
          <a:custGeom>
            <a:avLst/>
            <a:gdLst/>
            <a:ahLst/>
            <a:cxnLst/>
            <a:rect r="r" b="b" t="t" l="l"/>
            <a:pathLst>
              <a:path h="4850492" w="11806472">
                <a:moveTo>
                  <a:pt x="0" y="4850492"/>
                </a:moveTo>
                <a:lnTo>
                  <a:pt x="11806471" y="4850492"/>
                </a:lnTo>
                <a:lnTo>
                  <a:pt x="11806471"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2163755" y="2756734"/>
            <a:ext cx="5468247" cy="3447373"/>
          </a:xfrm>
          <a:custGeom>
            <a:avLst/>
            <a:gdLst/>
            <a:ahLst/>
            <a:cxnLst/>
            <a:rect r="r" b="b" t="t" l="l"/>
            <a:pathLst>
              <a:path h="3447373" w="5468247">
                <a:moveTo>
                  <a:pt x="0" y="0"/>
                </a:moveTo>
                <a:lnTo>
                  <a:pt x="5468248" y="0"/>
                </a:lnTo>
                <a:lnTo>
                  <a:pt x="5468248" y="3447374"/>
                </a:lnTo>
                <a:lnTo>
                  <a:pt x="0" y="3447374"/>
                </a:lnTo>
                <a:lnTo>
                  <a:pt x="0" y="0"/>
                </a:lnTo>
                <a:close/>
              </a:path>
            </a:pathLst>
          </a:custGeom>
          <a:blipFill>
            <a:blip r:embed="rId6"/>
            <a:stretch>
              <a:fillRect l="0" t="0" r="0" b="0"/>
            </a:stretch>
          </a:blipFill>
        </p:spPr>
      </p:sp>
      <p:sp>
        <p:nvSpPr>
          <p:cNvPr name="TextBox 7" id="7"/>
          <p:cNvSpPr txBox="true"/>
          <p:nvPr/>
        </p:nvSpPr>
        <p:spPr>
          <a:xfrm rot="0">
            <a:off x="3923597" y="235994"/>
            <a:ext cx="8324493" cy="694055"/>
          </a:xfrm>
          <a:prstGeom prst="rect">
            <a:avLst/>
          </a:prstGeom>
        </p:spPr>
        <p:txBody>
          <a:bodyPr anchor="t" rtlCol="false" tIns="0" lIns="0" bIns="0" rIns="0">
            <a:spAutoFit/>
          </a:bodyPr>
          <a:lstStyle/>
          <a:p>
            <a:pPr algn="ctr">
              <a:lnSpc>
                <a:spcPts val="5320"/>
              </a:lnSpc>
              <a:spcBef>
                <a:spcPct val="0"/>
              </a:spcBef>
            </a:pPr>
            <a:r>
              <a:rPr lang="en-US" b="true" sz="3800" u="sng">
                <a:solidFill>
                  <a:srgbClr val="FFFFFF"/>
                </a:solidFill>
                <a:latin typeface="Telegraf Bold"/>
                <a:ea typeface="Telegraf Bold"/>
                <a:cs typeface="Telegraf Bold"/>
                <a:sym typeface="Telegraf Bold"/>
              </a:rPr>
              <a:t>Comparison with Existing Methods</a:t>
            </a:r>
          </a:p>
        </p:txBody>
      </p:sp>
      <p:sp>
        <p:nvSpPr>
          <p:cNvPr name="TextBox 8" id="8"/>
          <p:cNvSpPr txBox="true"/>
          <p:nvPr/>
        </p:nvSpPr>
        <p:spPr>
          <a:xfrm rot="0">
            <a:off x="1664780" y="1990619"/>
            <a:ext cx="6920270"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Accuracy / Performance Comparison</a:t>
            </a:r>
          </a:p>
        </p:txBody>
      </p:sp>
      <p:sp>
        <p:nvSpPr>
          <p:cNvPr name="TextBox 9" id="9"/>
          <p:cNvSpPr txBox="true"/>
          <p:nvPr/>
        </p:nvSpPr>
        <p:spPr>
          <a:xfrm rot="0">
            <a:off x="2233855" y="6868364"/>
            <a:ext cx="6775026"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Advantages of the Proposed Work</a:t>
            </a:r>
          </a:p>
        </p:txBody>
      </p:sp>
      <p:sp>
        <p:nvSpPr>
          <p:cNvPr name="TextBox 10" id="10"/>
          <p:cNvSpPr txBox="true"/>
          <p:nvPr/>
        </p:nvSpPr>
        <p:spPr>
          <a:xfrm rot="0">
            <a:off x="4393482" y="7578908"/>
            <a:ext cx="8871585" cy="16916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Telegraf"/>
                <a:ea typeface="Telegraf"/>
                <a:cs typeface="Telegraf"/>
                <a:sym typeface="Telegraf"/>
              </a:rPr>
              <a:t>Captures structural relationships between network entities.</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Adapts to evolving attack patterns.</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Reduces catastrophic forgetting.</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Supports inductive learning for unseen IP nodes.</a:t>
            </a:r>
          </a:p>
        </p:txBody>
      </p:sp>
      <p:sp>
        <p:nvSpPr>
          <p:cNvPr name="TextBox 11" id="11"/>
          <p:cNvSpPr txBox="true"/>
          <p:nvPr/>
        </p:nvSpPr>
        <p:spPr>
          <a:xfrm rot="0">
            <a:off x="9897779" y="2838660"/>
            <a:ext cx="4694515" cy="542925"/>
          </a:xfrm>
          <a:prstGeom prst="rect">
            <a:avLst/>
          </a:prstGeom>
        </p:spPr>
        <p:txBody>
          <a:bodyPr anchor="t" rtlCol="false" tIns="0" lIns="0" bIns="0" rIns="0">
            <a:spAutoFit/>
          </a:bodyPr>
          <a:lstStyle/>
          <a:p>
            <a:pPr algn="ctr">
              <a:lnSpc>
                <a:spcPts val="4199"/>
              </a:lnSpc>
              <a:spcBef>
                <a:spcPct val="0"/>
              </a:spcBef>
            </a:pPr>
            <a:r>
              <a:rPr lang="en-US" b="true" sz="2999">
                <a:solidFill>
                  <a:srgbClr val="FFFFFF"/>
                </a:solidFill>
                <a:latin typeface="Telegraf Bold"/>
                <a:ea typeface="Telegraf Bold"/>
                <a:cs typeface="Telegraf Bold"/>
                <a:sym typeface="Telegraf Bold"/>
              </a:rPr>
              <a:t>Observed Improvements</a:t>
            </a:r>
          </a:p>
        </p:txBody>
      </p:sp>
      <p:sp>
        <p:nvSpPr>
          <p:cNvPr name="TextBox 12" id="12"/>
          <p:cNvSpPr txBox="true"/>
          <p:nvPr/>
        </p:nvSpPr>
        <p:spPr>
          <a:xfrm rot="0">
            <a:off x="9897779" y="3870960"/>
            <a:ext cx="7740134" cy="12725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Telegraf"/>
                <a:ea typeface="Telegraf"/>
                <a:cs typeface="Telegraf"/>
                <a:sym typeface="Telegraf"/>
              </a:rPr>
              <a:t>Better handling of temporal distribution shifts.</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Improved adaptive learning capability.</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Enhanced robustness against evolving APT attacks.</a:t>
            </a:r>
          </a:p>
        </p:txBody>
      </p:sp>
    </p:spTree>
  </p:cSld>
  <p:clrMapOvr>
    <a:masterClrMapping/>
  </p:clrMapOvr>
</p:sld>
</file>

<file path=ppt/slides/slide12.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372272" y="-1707287"/>
            <a:ext cx="11806472" cy="4850492"/>
          </a:xfrm>
          <a:custGeom>
            <a:avLst/>
            <a:gdLst/>
            <a:ahLst/>
            <a:cxnLst/>
            <a:rect r="r" b="b" t="t" l="l"/>
            <a:pathLst>
              <a:path h="4850492" w="11806472">
                <a:moveTo>
                  <a:pt x="0" y="4850492"/>
                </a:moveTo>
                <a:lnTo>
                  <a:pt x="11806471" y="4850492"/>
                </a:lnTo>
                <a:lnTo>
                  <a:pt x="11806471"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647129" y="594134"/>
            <a:ext cx="8418552" cy="694055"/>
          </a:xfrm>
          <a:prstGeom prst="rect">
            <a:avLst/>
          </a:prstGeom>
        </p:spPr>
        <p:txBody>
          <a:bodyPr anchor="t" rtlCol="false" tIns="0" lIns="0" bIns="0" rIns="0">
            <a:spAutoFit/>
          </a:bodyPr>
          <a:lstStyle/>
          <a:p>
            <a:pPr algn="ctr">
              <a:lnSpc>
                <a:spcPts val="5320"/>
              </a:lnSpc>
              <a:spcBef>
                <a:spcPct val="0"/>
              </a:spcBef>
            </a:pPr>
            <a:r>
              <a:rPr lang="en-US" b="true" sz="3800" u="sng">
                <a:solidFill>
                  <a:srgbClr val="FFFFFF"/>
                </a:solidFill>
                <a:latin typeface="Telegraf Bold"/>
                <a:ea typeface="Telegraf Bold"/>
                <a:cs typeface="Telegraf Bold"/>
                <a:sym typeface="Telegraf Bold"/>
              </a:rPr>
              <a:t>Conclusion and Learning Outcomes</a:t>
            </a:r>
          </a:p>
        </p:txBody>
      </p:sp>
      <p:sp>
        <p:nvSpPr>
          <p:cNvPr name="TextBox 7" id="7"/>
          <p:cNvSpPr txBox="true"/>
          <p:nvPr/>
        </p:nvSpPr>
        <p:spPr>
          <a:xfrm rot="0">
            <a:off x="1580888" y="1782109"/>
            <a:ext cx="6137196"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Summary of Work Implemented:</a:t>
            </a:r>
          </a:p>
        </p:txBody>
      </p:sp>
      <p:sp>
        <p:nvSpPr>
          <p:cNvPr name="TextBox 8" id="8"/>
          <p:cNvSpPr txBox="true"/>
          <p:nvPr/>
        </p:nvSpPr>
        <p:spPr>
          <a:xfrm rot="0">
            <a:off x="1580888" y="2582082"/>
            <a:ext cx="8686296" cy="2062353"/>
          </a:xfrm>
          <a:prstGeom prst="rect">
            <a:avLst/>
          </a:prstGeom>
        </p:spPr>
        <p:txBody>
          <a:bodyPr anchor="t" rtlCol="false" tIns="0" lIns="0" bIns="0" rIns="0">
            <a:spAutoFit/>
          </a:bodyPr>
          <a:lstStyle/>
          <a:p>
            <a:pPr algn="l" marL="561339" indent="-280669" lvl="1">
              <a:lnSpc>
                <a:spcPts val="4055"/>
              </a:lnSpc>
              <a:buFont typeface="Arial"/>
              <a:buChar char="•"/>
            </a:pPr>
            <a:r>
              <a:rPr lang="en-US" sz="2599">
                <a:solidFill>
                  <a:srgbClr val="FFFFFF"/>
                </a:solidFill>
                <a:latin typeface="Telegraf"/>
                <a:ea typeface="Telegraf"/>
                <a:cs typeface="Telegraf"/>
                <a:sym typeface="Telegraf"/>
              </a:rPr>
              <a:t>Implemented graph-based APT detection framework.</a:t>
            </a:r>
          </a:p>
          <a:p>
            <a:pPr algn="l" marL="561339" indent="-280669" lvl="1">
              <a:lnSpc>
                <a:spcPts val="4055"/>
              </a:lnSpc>
              <a:buFont typeface="Arial"/>
              <a:buChar char="•"/>
            </a:pPr>
            <a:r>
              <a:rPr lang="en-US" sz="2599">
                <a:solidFill>
                  <a:srgbClr val="FFFFFF"/>
                </a:solidFill>
                <a:latin typeface="Telegraf"/>
                <a:ea typeface="Telegraf"/>
                <a:cs typeface="Telegraf"/>
                <a:sym typeface="Telegraf"/>
              </a:rPr>
              <a:t>Applied rehearsal-based continual learning.</a:t>
            </a:r>
          </a:p>
          <a:p>
            <a:pPr algn="l" marL="561339" indent="-280669" lvl="1">
              <a:lnSpc>
                <a:spcPts val="4055"/>
              </a:lnSpc>
              <a:buFont typeface="Arial"/>
              <a:buChar char="•"/>
            </a:pPr>
            <a:r>
              <a:rPr lang="en-US" sz="2599">
                <a:solidFill>
                  <a:srgbClr val="FFFFFF"/>
                </a:solidFill>
                <a:latin typeface="Telegraf"/>
                <a:ea typeface="Telegraf"/>
                <a:cs typeface="Telegraf"/>
                <a:sym typeface="Telegraf"/>
              </a:rPr>
              <a:t>Evaluated GCN, GraphSAGE, and GAT models.</a:t>
            </a:r>
          </a:p>
        </p:txBody>
      </p:sp>
      <p:sp>
        <p:nvSpPr>
          <p:cNvPr name="TextBox 9" id="9"/>
          <p:cNvSpPr txBox="true"/>
          <p:nvPr/>
        </p:nvSpPr>
        <p:spPr>
          <a:xfrm rot="0">
            <a:off x="1545051" y="5388015"/>
            <a:ext cx="2448401"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Key Findings:</a:t>
            </a:r>
          </a:p>
        </p:txBody>
      </p:sp>
      <p:sp>
        <p:nvSpPr>
          <p:cNvPr name="TextBox 10" id="10"/>
          <p:cNvSpPr txBox="true"/>
          <p:nvPr/>
        </p:nvSpPr>
        <p:spPr>
          <a:xfrm rot="0">
            <a:off x="1401123" y="6188115"/>
            <a:ext cx="8741710" cy="2573401"/>
          </a:xfrm>
          <a:prstGeom prst="rect">
            <a:avLst/>
          </a:prstGeom>
        </p:spPr>
        <p:txBody>
          <a:bodyPr anchor="t" rtlCol="false" tIns="0" lIns="0" bIns="0" rIns="0">
            <a:spAutoFit/>
          </a:bodyPr>
          <a:lstStyle/>
          <a:p>
            <a:pPr algn="l" marL="561339" indent="-280669" lvl="1">
              <a:lnSpc>
                <a:spcPts val="4081"/>
              </a:lnSpc>
              <a:buFont typeface="Arial"/>
              <a:buChar char="•"/>
            </a:pPr>
            <a:r>
              <a:rPr lang="en-US" sz="2599" spc="12">
                <a:solidFill>
                  <a:srgbClr val="FFFFFF"/>
                </a:solidFill>
                <a:latin typeface="Telegraf"/>
                <a:ea typeface="Telegraf"/>
                <a:cs typeface="Telegraf"/>
                <a:sym typeface="Telegraf"/>
              </a:rPr>
              <a:t>Graph learning improves threat detection performance.</a:t>
            </a:r>
          </a:p>
          <a:p>
            <a:pPr algn="l" marL="561339" indent="-280669" lvl="1">
              <a:lnSpc>
                <a:spcPts val="4081"/>
              </a:lnSpc>
              <a:buFont typeface="Arial"/>
              <a:buChar char="•"/>
            </a:pPr>
            <a:r>
              <a:rPr lang="en-US" sz="2599" spc="12">
                <a:solidFill>
                  <a:srgbClr val="FFFFFF"/>
                </a:solidFill>
                <a:latin typeface="Telegraf"/>
                <a:ea typeface="Telegraf"/>
                <a:cs typeface="Telegraf"/>
                <a:sym typeface="Telegraf"/>
              </a:rPr>
              <a:t>Replay memory stabilizes sequential learning.</a:t>
            </a:r>
          </a:p>
          <a:p>
            <a:pPr algn="l" marL="561339" indent="-280669" lvl="1">
              <a:lnSpc>
                <a:spcPts val="4081"/>
              </a:lnSpc>
              <a:buFont typeface="Arial"/>
              <a:buChar char="•"/>
            </a:pPr>
            <a:r>
              <a:rPr lang="en-US" sz="2599" spc="12">
                <a:solidFill>
                  <a:srgbClr val="FFFFFF"/>
                </a:solidFill>
                <a:latin typeface="Telegraf"/>
                <a:ea typeface="Telegraf"/>
                <a:cs typeface="Telegraf"/>
                <a:sym typeface="Telegraf"/>
              </a:rPr>
              <a:t>GraphSAGE achieved the best adaptive performance.</a:t>
            </a:r>
          </a:p>
        </p:txBody>
      </p:sp>
      <p:sp>
        <p:nvSpPr>
          <p:cNvPr name="TextBox 11" id="11"/>
          <p:cNvSpPr txBox="true"/>
          <p:nvPr/>
        </p:nvSpPr>
        <p:spPr>
          <a:xfrm rot="0">
            <a:off x="9897779" y="1705782"/>
            <a:ext cx="5483423"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Skills and Knowledge Gained:</a:t>
            </a:r>
          </a:p>
        </p:txBody>
      </p:sp>
      <p:sp>
        <p:nvSpPr>
          <p:cNvPr name="TextBox 12" id="12"/>
          <p:cNvSpPr txBox="true"/>
          <p:nvPr/>
        </p:nvSpPr>
        <p:spPr>
          <a:xfrm rot="0">
            <a:off x="10142833" y="2559357"/>
            <a:ext cx="5969198" cy="2620645"/>
          </a:xfrm>
          <a:prstGeom prst="rect">
            <a:avLst/>
          </a:prstGeom>
        </p:spPr>
        <p:txBody>
          <a:bodyPr anchor="t" rtlCol="false" tIns="0" lIns="0" bIns="0" rIns="0">
            <a:spAutoFit/>
          </a:bodyPr>
          <a:lstStyle/>
          <a:p>
            <a:pPr algn="l" marL="561339" indent="-280669" lvl="1">
              <a:lnSpc>
                <a:spcPts val="4159"/>
              </a:lnSpc>
              <a:buFont typeface="Arial"/>
              <a:buChar char="•"/>
            </a:pPr>
            <a:r>
              <a:rPr lang="en-US" sz="2599">
                <a:solidFill>
                  <a:srgbClr val="FFFFFF"/>
                </a:solidFill>
                <a:latin typeface="Telegraf"/>
                <a:ea typeface="Telegraf"/>
                <a:cs typeface="Telegraf"/>
                <a:sym typeface="Telegraf"/>
              </a:rPr>
              <a:t>Graph Neural Networks</a:t>
            </a:r>
          </a:p>
          <a:p>
            <a:pPr algn="l" marL="561339" indent="-280669" lvl="1">
              <a:lnSpc>
                <a:spcPts val="4159"/>
              </a:lnSpc>
              <a:buFont typeface="Arial"/>
              <a:buChar char="•"/>
            </a:pPr>
            <a:r>
              <a:rPr lang="en-US" sz="2599">
                <a:solidFill>
                  <a:srgbClr val="FFFFFF"/>
                </a:solidFill>
                <a:latin typeface="Telegraf"/>
                <a:ea typeface="Telegraf"/>
                <a:cs typeface="Telegraf"/>
                <a:sym typeface="Telegraf"/>
              </a:rPr>
              <a:t>Continual Learning</a:t>
            </a:r>
          </a:p>
          <a:p>
            <a:pPr algn="l" marL="561339" indent="-280669" lvl="1">
              <a:lnSpc>
                <a:spcPts val="4159"/>
              </a:lnSpc>
              <a:buFont typeface="Arial"/>
              <a:buChar char="•"/>
            </a:pPr>
            <a:r>
              <a:rPr lang="en-US" sz="2599">
                <a:solidFill>
                  <a:srgbClr val="FFFFFF"/>
                </a:solidFill>
                <a:latin typeface="Telegraf"/>
                <a:ea typeface="Telegraf"/>
                <a:cs typeface="Telegraf"/>
                <a:sym typeface="Telegraf"/>
              </a:rPr>
              <a:t>Cybersecurity telemetry analysis</a:t>
            </a:r>
          </a:p>
          <a:p>
            <a:pPr algn="l" marL="561339" indent="-280669" lvl="1">
              <a:lnSpc>
                <a:spcPts val="4159"/>
              </a:lnSpc>
              <a:buFont typeface="Arial"/>
              <a:buChar char="•"/>
            </a:pPr>
            <a:r>
              <a:rPr lang="en-US" sz="2599">
                <a:solidFill>
                  <a:srgbClr val="FFFFFF"/>
                </a:solidFill>
                <a:latin typeface="Telegraf"/>
                <a:ea typeface="Telegraf"/>
                <a:cs typeface="Telegraf"/>
                <a:sym typeface="Telegraf"/>
              </a:rPr>
              <a:t>Graph construction techniques</a:t>
            </a:r>
          </a:p>
          <a:p>
            <a:pPr algn="l" marL="561339" indent="-280669" lvl="1">
              <a:lnSpc>
                <a:spcPts val="4159"/>
              </a:lnSpc>
              <a:buFont typeface="Arial"/>
              <a:buChar char="•"/>
            </a:pPr>
            <a:r>
              <a:rPr lang="en-US" sz="2599">
                <a:solidFill>
                  <a:srgbClr val="FFFFFF"/>
                </a:solidFill>
                <a:latin typeface="Telegraf"/>
                <a:ea typeface="Telegraf"/>
                <a:cs typeface="Telegraf"/>
                <a:sym typeface="Telegraf"/>
              </a:rPr>
              <a:t>PyTorch Geometric implementation</a:t>
            </a:r>
          </a:p>
        </p:txBody>
      </p:sp>
      <p:sp>
        <p:nvSpPr>
          <p:cNvPr name="TextBox 13" id="13"/>
          <p:cNvSpPr txBox="true"/>
          <p:nvPr/>
        </p:nvSpPr>
        <p:spPr>
          <a:xfrm rot="0">
            <a:off x="9897779" y="5616615"/>
            <a:ext cx="4286012"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Key Challenges Faced  </a:t>
            </a:r>
          </a:p>
        </p:txBody>
      </p:sp>
      <p:sp>
        <p:nvSpPr>
          <p:cNvPr name="TextBox 14" id="14"/>
          <p:cNvSpPr txBox="true"/>
          <p:nvPr/>
        </p:nvSpPr>
        <p:spPr>
          <a:xfrm rot="0">
            <a:off x="9641818" y="6521490"/>
            <a:ext cx="7957214" cy="1848485"/>
          </a:xfrm>
          <a:prstGeom prst="rect">
            <a:avLst/>
          </a:prstGeom>
        </p:spPr>
        <p:txBody>
          <a:bodyPr anchor="t" rtlCol="false" tIns="0" lIns="0" bIns="0" rIns="0">
            <a:spAutoFit/>
          </a:bodyPr>
          <a:lstStyle/>
          <a:p>
            <a:pPr algn="l" marL="561341" indent="-280670" lvl="1">
              <a:lnSpc>
                <a:spcPts val="3640"/>
              </a:lnSpc>
              <a:buFont typeface="Arial"/>
              <a:buChar char="•"/>
            </a:pPr>
            <a:r>
              <a:rPr lang="en-US" sz="2600">
                <a:solidFill>
                  <a:srgbClr val="FFFFFF"/>
                </a:solidFill>
                <a:latin typeface="Telegraf"/>
                <a:ea typeface="Telegraf"/>
                <a:cs typeface="Telegraf"/>
                <a:sym typeface="Telegraf"/>
              </a:rPr>
              <a:t>The original research paper used Wazuh EDR telemetry, which was not publicly accessible.</a:t>
            </a:r>
          </a:p>
          <a:p>
            <a:pPr algn="l" marL="561341" indent="-280670" lvl="1">
              <a:lnSpc>
                <a:spcPts val="3640"/>
              </a:lnSpc>
              <a:buFont typeface="Arial"/>
              <a:buChar char="•"/>
            </a:pPr>
            <a:r>
              <a:rPr lang="en-US" sz="2600">
                <a:solidFill>
                  <a:srgbClr val="FFFFFF"/>
                </a:solidFill>
                <a:latin typeface="Telegraf"/>
                <a:ea typeface="Telegraf"/>
                <a:cs typeface="Telegraf"/>
                <a:sym typeface="Telegraf"/>
              </a:rPr>
              <a:t>Therefore, the project adapted the framework using the Kaggle APT dataset.</a:t>
            </a:r>
          </a:p>
        </p:txBody>
      </p:sp>
    </p:spTree>
  </p:cSld>
  <p:clrMapOvr>
    <a:masterClrMapping/>
  </p:clrMapOvr>
</p:sld>
</file>

<file path=ppt/slides/slide13.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Freeform 2" id="2"/>
          <p:cNvSpPr/>
          <p:nvPr/>
        </p:nvSpPr>
        <p:spPr>
          <a:xfrm flipH="false" flipV="false" rot="0">
            <a:off x="-728006" y="4480421"/>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2372272" y="-1707287"/>
            <a:ext cx="11806472" cy="4850492"/>
          </a:xfrm>
          <a:custGeom>
            <a:avLst/>
            <a:gdLst/>
            <a:ahLst/>
            <a:cxnLst/>
            <a:rect r="r" b="b" t="t" l="l"/>
            <a:pathLst>
              <a:path h="4850492" w="11806472">
                <a:moveTo>
                  <a:pt x="0" y="4850492"/>
                </a:moveTo>
                <a:lnTo>
                  <a:pt x="11806471" y="4850492"/>
                </a:lnTo>
                <a:lnTo>
                  <a:pt x="11806471"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TextBox 6" id="6"/>
          <p:cNvSpPr txBox="true"/>
          <p:nvPr/>
        </p:nvSpPr>
        <p:spPr>
          <a:xfrm rot="0">
            <a:off x="4583719" y="725805"/>
            <a:ext cx="8102918" cy="694055"/>
          </a:xfrm>
          <a:prstGeom prst="rect">
            <a:avLst/>
          </a:prstGeom>
        </p:spPr>
        <p:txBody>
          <a:bodyPr anchor="t" rtlCol="false" tIns="0" lIns="0" bIns="0" rIns="0">
            <a:spAutoFit/>
          </a:bodyPr>
          <a:lstStyle/>
          <a:p>
            <a:pPr algn="ctr">
              <a:lnSpc>
                <a:spcPts val="5320"/>
              </a:lnSpc>
              <a:spcBef>
                <a:spcPct val="0"/>
              </a:spcBef>
            </a:pPr>
            <a:r>
              <a:rPr lang="en-US" b="true" sz="3800" u="sng">
                <a:solidFill>
                  <a:srgbClr val="FFFFFF"/>
                </a:solidFill>
                <a:latin typeface="Telegraf Bold"/>
                <a:ea typeface="Telegraf Bold"/>
                <a:cs typeface="Telegraf Bold"/>
                <a:sym typeface="Telegraf Bold"/>
              </a:rPr>
              <a:t>Future Work – Problem Statement</a:t>
            </a:r>
          </a:p>
        </p:txBody>
      </p:sp>
      <p:sp>
        <p:nvSpPr>
          <p:cNvPr name="TextBox 7" id="7"/>
          <p:cNvSpPr txBox="true"/>
          <p:nvPr/>
        </p:nvSpPr>
        <p:spPr>
          <a:xfrm rot="0">
            <a:off x="1204606" y="1838535"/>
            <a:ext cx="3379113" cy="10953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Future Extensions</a:t>
            </a:r>
          </a:p>
          <a:p>
            <a:pPr algn="ctr">
              <a:lnSpc>
                <a:spcPts val="4200"/>
              </a:lnSpc>
              <a:spcBef>
                <a:spcPct val="0"/>
              </a:spcBef>
            </a:pPr>
          </a:p>
        </p:txBody>
      </p:sp>
      <p:sp>
        <p:nvSpPr>
          <p:cNvPr name="TextBox 8" id="8"/>
          <p:cNvSpPr txBox="true"/>
          <p:nvPr/>
        </p:nvSpPr>
        <p:spPr>
          <a:xfrm rot="0">
            <a:off x="1028700" y="2679997"/>
            <a:ext cx="15330161" cy="2529840"/>
          </a:xfrm>
          <a:prstGeom prst="rect">
            <a:avLst/>
          </a:prstGeom>
        </p:spPr>
        <p:txBody>
          <a:bodyPr anchor="t" rtlCol="false" tIns="0" lIns="0" bIns="0" rIns="0">
            <a:spAutoFit/>
          </a:bodyPr>
          <a:lstStyle/>
          <a:p>
            <a:pPr algn="l" marL="518160" indent="-259080" lvl="1">
              <a:lnSpc>
                <a:spcPts val="3359"/>
              </a:lnSpc>
              <a:buFont typeface="Arial"/>
              <a:buChar char="•"/>
            </a:pPr>
            <a:r>
              <a:rPr lang="en-US" sz="2400">
                <a:solidFill>
                  <a:srgbClr val="FFFFFF"/>
                </a:solidFill>
                <a:latin typeface="Telegraf"/>
                <a:ea typeface="Telegraf"/>
                <a:cs typeface="Telegraf"/>
                <a:sym typeface="Telegraf"/>
              </a:rPr>
              <a:t>Improve the GNN model using advanced architectures such as Graph Attention Networks (GAT).</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Implement federated continual learning to support multiple decentralized SOC environments securely.</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Optimize replay buffer techniques to reduce memory usage and improve long-term scalability.</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Enhance the system to detect adversarial and zero-day APT attacks more effectively.</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Integrate explainable AI visual dashboards to help security analysts understand model decisions.</a:t>
            </a:r>
          </a:p>
          <a:p>
            <a:pPr algn="l" marL="518160" indent="-259080" lvl="1">
              <a:lnSpc>
                <a:spcPts val="3359"/>
              </a:lnSpc>
              <a:buFont typeface="Arial"/>
              <a:buChar char="•"/>
            </a:pPr>
            <a:r>
              <a:rPr lang="en-US" sz="2400">
                <a:solidFill>
                  <a:srgbClr val="FFFFFF"/>
                </a:solidFill>
                <a:latin typeface="Telegraf"/>
                <a:ea typeface="Telegraf"/>
                <a:cs typeface="Telegraf"/>
                <a:sym typeface="Telegraf"/>
              </a:rPr>
              <a:t>Extend the framework for real-time adaptive threat detection using live telemetry streams.</a:t>
            </a:r>
          </a:p>
        </p:txBody>
      </p:sp>
      <p:sp>
        <p:nvSpPr>
          <p:cNvPr name="TextBox 9" id="9"/>
          <p:cNvSpPr txBox="true"/>
          <p:nvPr/>
        </p:nvSpPr>
        <p:spPr>
          <a:xfrm rot="0">
            <a:off x="1854756" y="6971213"/>
            <a:ext cx="13999078" cy="1774825"/>
          </a:xfrm>
          <a:prstGeom prst="rect">
            <a:avLst/>
          </a:prstGeom>
        </p:spPr>
        <p:txBody>
          <a:bodyPr anchor="t" rtlCol="false" tIns="0" lIns="0" bIns="0" rIns="0">
            <a:spAutoFit/>
          </a:bodyPr>
          <a:lstStyle/>
          <a:p>
            <a:pPr algn="l">
              <a:lnSpc>
                <a:spcPts val="3499"/>
              </a:lnSpc>
              <a:spcBef>
                <a:spcPct val="0"/>
              </a:spcBef>
            </a:pPr>
            <a:r>
              <a:rPr lang="en-US" sz="2499">
                <a:solidFill>
                  <a:srgbClr val="FFFFFF"/>
                </a:solidFill>
                <a:latin typeface="Telegraf"/>
                <a:ea typeface="Telegraf"/>
                <a:cs typeface="Telegraf"/>
                <a:sym typeface="Telegraf"/>
              </a:rPr>
              <a:t>Develop a scalable real-time adaptive APT detection framework using Graph Neural Networks, Continual Learning, and Federated Learning to detect evolving cyber threats across decentralized enterprise environments while preserving data privacy and reducing catastrophic forgetting.</a:t>
            </a:r>
          </a:p>
        </p:txBody>
      </p:sp>
      <p:sp>
        <p:nvSpPr>
          <p:cNvPr name="TextBox 10" id="10"/>
          <p:cNvSpPr txBox="true"/>
          <p:nvPr/>
        </p:nvSpPr>
        <p:spPr>
          <a:xfrm rot="0">
            <a:off x="1204606" y="6090138"/>
            <a:ext cx="4970145" cy="561975"/>
          </a:xfrm>
          <a:prstGeom prst="rect">
            <a:avLst/>
          </a:prstGeom>
        </p:spPr>
        <p:txBody>
          <a:bodyPr anchor="t" rtlCol="false" tIns="0" lIns="0" bIns="0" rIns="0">
            <a:spAutoFit/>
          </a:bodyPr>
          <a:lstStyle/>
          <a:p>
            <a:pPr algn="ctr">
              <a:lnSpc>
                <a:spcPts val="4200"/>
              </a:lnSpc>
              <a:spcBef>
                <a:spcPct val="0"/>
              </a:spcBef>
            </a:pPr>
            <a:r>
              <a:rPr lang="en-US" b="true" sz="3000">
                <a:solidFill>
                  <a:srgbClr val="FFFFFF"/>
                </a:solidFill>
                <a:latin typeface="Telegraf Bold"/>
                <a:ea typeface="Telegraf Bold"/>
                <a:cs typeface="Telegraf Bold"/>
                <a:sym typeface="Telegraf Bold"/>
              </a:rPr>
              <a:t>Future Problem Statement</a:t>
            </a:r>
          </a:p>
        </p:txBody>
      </p:sp>
    </p:spTree>
  </p:cSld>
  <p:clrMapOvr>
    <a:masterClrMapping/>
  </p:clrMapOvr>
</p:sld>
</file>

<file path=ppt/slides/slide14.xml><?xml version="1.0" encoding="utf-8"?>
<p:sld xmlns:p="http://schemas.openxmlformats.org/presentationml/2006/main" xmlns:a="http://schemas.openxmlformats.org/drawingml/2006/main" xmlns:r="http://schemas.openxmlformats.org/officeDocument/2006/relationships">
  <p:cSld>
    <p:bg>
      <p:bgPr>
        <a:gradFill rotWithShape="true">
          <a:gsLst>
            <a:gs pos="0">
              <a:srgbClr val="131650">
                <a:alpha val="100000"/>
              </a:srgbClr>
            </a:gs>
            <a:gs pos="100000">
              <a:srgbClr val="070929">
                <a:alpha val="100000"/>
              </a:srgbClr>
            </a:gs>
          </a:gsLst>
          <a:lin ang="5400000"/>
        </a:gradFill>
      </p:bgPr>
    </p:bg>
    <p:spTree>
      <p:nvGrpSpPr>
        <p:cNvPr id="1" name=""/>
        <p:cNvGrpSpPr/>
        <p:nvPr/>
      </p:nvGrpSpPr>
      <p:grpSpPr>
        <a:xfrm>
          <a:off x="0" y="0"/>
          <a:ext cx="0" cy="0"/>
          <a:chOff x="0" y="0"/>
          <a:chExt cx="0" cy="0"/>
        </a:xfrm>
      </p:grpSpPr>
      <p:sp>
        <p:nvSpPr>
          <p:cNvPr name="TextBox 2" id="2"/>
          <p:cNvSpPr txBox="true"/>
          <p:nvPr/>
        </p:nvSpPr>
        <p:spPr>
          <a:xfrm rot="0">
            <a:off x="4571754" y="4141278"/>
            <a:ext cx="9805753" cy="1527175"/>
          </a:xfrm>
          <a:prstGeom prst="rect">
            <a:avLst/>
          </a:prstGeom>
        </p:spPr>
        <p:txBody>
          <a:bodyPr anchor="t" rtlCol="false" tIns="0" lIns="0" bIns="0" rIns="0">
            <a:spAutoFit/>
          </a:bodyPr>
          <a:lstStyle/>
          <a:p>
            <a:pPr algn="l">
              <a:lnSpc>
                <a:spcPts val="10999"/>
              </a:lnSpc>
            </a:pPr>
            <a:r>
              <a:rPr lang="en-US" b="true" sz="9999">
                <a:solidFill>
                  <a:srgbClr val="FFFFFF"/>
                </a:solidFill>
                <a:latin typeface="Telegraf Bold"/>
                <a:ea typeface="Telegraf Bold"/>
                <a:cs typeface="Telegraf Bold"/>
                <a:sym typeface="Telegraf Bold"/>
              </a:rPr>
              <a:t>THANK YOU!!</a:t>
            </a:r>
          </a:p>
        </p:txBody>
      </p:sp>
      <p:sp>
        <p:nvSpPr>
          <p:cNvPr name="Freeform 3" id="3"/>
          <p:cNvSpPr/>
          <p:nvPr/>
        </p:nvSpPr>
        <p:spPr>
          <a:xfrm flipH="true" flipV="true" rot="0">
            <a:off x="12285839" y="-240777"/>
            <a:ext cx="6349375" cy="6349375"/>
          </a:xfrm>
          <a:custGeom>
            <a:avLst/>
            <a:gdLst/>
            <a:ahLst/>
            <a:cxnLst/>
            <a:rect r="r" b="b" t="t" l="l"/>
            <a:pathLst>
              <a:path h="6349375" w="6349375">
                <a:moveTo>
                  <a:pt x="6349375" y="6349375"/>
                </a:moveTo>
                <a:lnTo>
                  <a:pt x="0" y="6349375"/>
                </a:lnTo>
                <a:lnTo>
                  <a:pt x="0" y="0"/>
                </a:lnTo>
                <a:lnTo>
                  <a:pt x="6349375" y="0"/>
                </a:lnTo>
                <a:lnTo>
                  <a:pt x="6349375" y="6349375"/>
                </a:lnTo>
                <a:close/>
              </a:path>
            </a:pathLst>
          </a:custGeom>
          <a:blipFill>
            <a:blip r:embed="rId2">
              <a:extLst>
                <a:ext uri="{96DAC541-7B7A-43D3-8B79-37D633B846F1}">
                  <asvg:svgBlip xmlns:asvg="http://schemas.microsoft.com/office/drawing/2016/SVG/main" r:embed="rId3"/>
                </a:ext>
              </a:extLst>
            </a:blip>
            <a:stretch>
              <a:fillRect l="0" t="0" r="0" b="0"/>
            </a:stretch>
          </a:blipFill>
        </p:spPr>
      </p:sp>
      <p:sp>
        <p:nvSpPr>
          <p:cNvPr name="Freeform 4" id="4"/>
          <p:cNvSpPr/>
          <p:nvPr/>
        </p:nvSpPr>
        <p:spPr>
          <a:xfrm flipH="false" flipV="true" rot="-1102825">
            <a:off x="-1963806" y="-1444702"/>
            <a:ext cx="11806472" cy="4850492"/>
          </a:xfrm>
          <a:custGeom>
            <a:avLst/>
            <a:gdLst/>
            <a:ahLst/>
            <a:cxnLst/>
            <a:rect r="r" b="b" t="t" l="l"/>
            <a:pathLst>
              <a:path h="4850492" w="11806472">
                <a:moveTo>
                  <a:pt x="0" y="4850492"/>
                </a:moveTo>
                <a:lnTo>
                  <a:pt x="11806472" y="4850492"/>
                </a:lnTo>
                <a:lnTo>
                  <a:pt x="11806472" y="0"/>
                </a:lnTo>
                <a:lnTo>
                  <a:pt x="0" y="0"/>
                </a:lnTo>
                <a:lnTo>
                  <a:pt x="0" y="4850492"/>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5" id="5"/>
          <p:cNvSpPr/>
          <p:nvPr/>
        </p:nvSpPr>
        <p:spPr>
          <a:xfrm flipH="true" flipV="false" rot="-1102825">
            <a:off x="8181664" y="7342663"/>
            <a:ext cx="11806472" cy="4850492"/>
          </a:xfrm>
          <a:custGeom>
            <a:avLst/>
            <a:gdLst/>
            <a:ahLst/>
            <a:cxnLst/>
            <a:rect r="r" b="b" t="t" l="l"/>
            <a:pathLst>
              <a:path h="4850492" w="11806472">
                <a:moveTo>
                  <a:pt x="11806471" y="0"/>
                </a:moveTo>
                <a:lnTo>
                  <a:pt x="0" y="0"/>
                </a:lnTo>
                <a:lnTo>
                  <a:pt x="0" y="4850492"/>
                </a:lnTo>
                <a:lnTo>
                  <a:pt x="11806471" y="4850492"/>
                </a:lnTo>
                <a:lnTo>
                  <a:pt x="11806471" y="0"/>
                </a:lnTo>
                <a:close/>
              </a:path>
            </a:pathLst>
          </a:custGeom>
          <a:blipFill>
            <a:blip r:embed="rId4">
              <a:extLst>
                <a:ext uri="{96DAC541-7B7A-43D3-8B79-37D633B846F1}">
                  <asvg:svgBlip xmlns:asvg="http://schemas.microsoft.com/office/drawing/2016/SVG/main" r:embed="rId5"/>
                </a:ext>
              </a:extLst>
            </a:blip>
            <a:stretch>
              <a:fillRect l="0" t="0" r="0" b="0"/>
            </a:stretch>
          </a:blipFill>
        </p:spPr>
      </p:sp>
      <p:sp>
        <p:nvSpPr>
          <p:cNvPr name="Freeform 6" id="6"/>
          <p:cNvSpPr/>
          <p:nvPr/>
        </p:nvSpPr>
        <p:spPr>
          <a:xfrm flipH="false" flipV="false" rot="0">
            <a:off x="-961416" y="4565356"/>
            <a:ext cx="6349375" cy="6349375"/>
          </a:xfrm>
          <a:custGeom>
            <a:avLst/>
            <a:gdLst/>
            <a:ahLst/>
            <a:cxnLst/>
            <a:rect r="r" b="b" t="t" l="l"/>
            <a:pathLst>
              <a:path h="6349375" w="6349375">
                <a:moveTo>
                  <a:pt x="0" y="0"/>
                </a:moveTo>
                <a:lnTo>
                  <a:pt x="6349375" y="0"/>
                </a:lnTo>
                <a:lnTo>
                  <a:pt x="6349375" y="6349375"/>
                </a:lnTo>
                <a:lnTo>
                  <a:pt x="0" y="6349375"/>
                </a:lnTo>
                <a:lnTo>
                  <a:pt x="0" y="0"/>
                </a:lnTo>
                <a:close/>
              </a:path>
            </a:pathLst>
          </a:custGeom>
          <a:blipFill>
            <a:blip r:embed="rId2">
              <a:extLst>
                <a:ext uri="{96DAC541-7B7A-43D3-8B79-37D633B846F1}">
                  <asvg:svgBlip xmlns:asvg="http://schemas.microsoft.com/office/drawing/2016/SVG/main" r:embed="rId3"/>
                </a:ext>
              </a:extLst>
            </a:blip>
            <a:stretch>
              <a:fillRect l="0" t="0" r="0" b="0"/>
            </a:stretch>
          </a:blipFill>
        </p:spPr>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xsi="http://www.w3.org/2001/XMLSchema-instance">
  <dcterms:created xsi:type="dcterms:W3CDTF">2006-08-16T00:00:00Z</dcterms:created>
  <dc:identifier>DAHJ6I586Yk</dc:identifier>
  <dcterms:modified xsi:type="dcterms:W3CDTF">2011-08-01T06:04:30Z</dcterms:modified>
  <cp:revision>1</cp:revision>
  <dc:title>Final Project Presentation</dc:title>
</cp:coreProperties>
</file>